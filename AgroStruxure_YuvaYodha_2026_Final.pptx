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FFCE00"/>
              </a:solidFill>
            </c:spPr>
          </c:dPt>
          <c:dPt>
            <c:idx val="1"/>
            <c:spPr>
              <a:solidFill>
                <a:srgbClr val="8FC9EA"/>
              </a:solidFill>
            </c:spPr>
          </c:dPt>
          <c:dPt>
            <c:idx val="2"/>
            <c:spPr>
              <a:solidFill>
                <a:srgbClr val="0087CD"/>
              </a:solidFill>
            </c:spPr>
          </c:dPt>
          <c:cat>
            <c:strRef>
              <c:f>Sheet1!$A$2:$A$4</c:f>
              <c:strCache>
                <c:ptCount val="3"/>
                <c:pt idx="0">
                  <c:v>Solar generation</c:v>
                </c:pt>
                <c:pt idx="1">
                  <c:v>Pumping today (flood)</c:v>
                </c:pt>
                <c:pt idx="2">
                  <c:v>Pumping right-sized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6559</c:v>
                </c:pt>
                <c:pt idx="1">
                  <c:v>4118</c:v>
                </c:pt>
                <c:pt idx="2">
                  <c:v>2422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020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E0D9"/>
            </a:solidFill>
          </a:ln>
        </c:spPr>
        <c:txPr>
          <a:bodyPr/>
          <a:lstStyle/>
          <a:p>
            <a:pPr>
              <a:defRPr sz="1200">
                <a:solidFill>
                  <a:srgbClr val="1020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8FC9EA"/>
              </a:solidFill>
            </c:spPr>
          </c:dPt>
          <c:dPt>
            <c:idx val="1"/>
            <c:spPr>
              <a:solidFill>
                <a:srgbClr val="5BB2E0"/>
              </a:solidFill>
            </c:spPr>
          </c:dPt>
          <c:dPt>
            <c:idx val="2"/>
            <c:spPr>
              <a:solidFill>
                <a:srgbClr val="0087CD"/>
              </a:solidFill>
            </c:spPr>
          </c:dPt>
          <c:cat>
            <c:strRef>
              <c:f>Sheet1!$A$2:$A$4</c:f>
              <c:strCache>
                <c:ptCount val="3"/>
                <c:pt idx="0">
                  <c:v>Flood</c:v>
                </c:pt>
                <c:pt idx="1">
                  <c:v>Conventional drip</c:v>
                </c:pt>
                <c:pt idx="2">
                  <c:v>AgroStruxure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17000</c:v>
                </c:pt>
                <c:pt idx="1">
                  <c:v>12000</c:v>
                </c:pt>
                <c:pt idx="2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 b="1">
                  <a:solidFill>
                    <a:srgbClr val="1020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E0D9"/>
            </a:solidFill>
          </a:ln>
        </c:spPr>
        <c:txPr>
          <a:bodyPr/>
          <a:lstStyle/>
          <a:p>
            <a:pPr>
              <a:defRPr sz="1100">
                <a:solidFill>
                  <a:srgbClr val="1020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Pumping 37%</c:v>
                </c:pt>
              </c:strCache>
            </c:strRef>
          </c:tx>
          <c:spPr>
            <a:solidFill>
              <a:srgbClr val="0087CD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PV output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cold chain 16%</c:v>
                </c:pt>
              </c:strCache>
            </c:strRef>
          </c:tx>
          <c:spPr>
            <a:solidFill>
              <a:srgbClr val="7A18D8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PV output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Headroom 47%</c:v>
                </c:pt>
              </c:strCache>
            </c:strRef>
          </c:tx>
          <c:spPr>
            <a:solidFill>
              <a:srgbClr val="E3D27A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400" b="1">
                    <a:solidFill>
                      <a:srgbClr val="10201A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PV output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3075</c:v>
                </c:pt>
              </c:numCache>
            </c:numRef>
          </c:val>
        </c:ser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dPt>
            <c:idx val="0"/>
            <c:spPr>
              <a:solidFill>
                <a:srgbClr val="E8A0A0"/>
              </a:solidFill>
            </c:spPr>
          </c:dPt>
          <c:dPt>
            <c:idx val="1"/>
            <c:spPr>
              <a:solidFill>
                <a:srgbClr val="7A18D8"/>
              </a:solidFill>
            </c:spPr>
          </c:dPt>
          <c:cat>
            <c:strRef>
              <c:f>Sheet1!$A$2:$A$3</c:f>
              <c:strCache>
                <c:ptCount val="2"/>
                <c:pt idx="0">
                  <c:v>Today</c:v>
                </c:pt>
                <c:pt idx="1">
                  <c:v>With pre-cooling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8.37</c:v>
                </c:pt>
                <c:pt idx="1">
                  <c:v>4.0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400" b="1">
                  <a:solidFill>
                    <a:srgbClr val="1020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E0D9"/>
            </a:solidFill>
          </a:ln>
        </c:spPr>
        <c:txPr>
          <a:bodyPr/>
          <a:lstStyle/>
          <a:p>
            <a:pPr>
              <a:defRPr sz="1200">
                <a:solidFill>
                  <a:srgbClr val="1020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8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Gross pre-cooler</c:v>
                </c:pt>
                <c:pt idx="1">
                  <c:v>Shared PV avoided</c:v>
                </c:pt>
                <c:pt idx="2">
                  <c:v>Net system</c:v>
                </c:pt>
                <c:pt idx="3">
                  <c:v>35% subsidy</c:v>
                </c:pt>
                <c:pt idx="4">
                  <c:v>Cluster net</c:v>
                </c:pt>
                <c:pt idx="5">
                  <c:v>Per farm (÷4)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309</c:v>
                </c:pt>
                <c:pt idx="2">
                  <c:v>0</c:v>
                </c:pt>
                <c:pt idx="3">
                  <c:v>200.85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24230"/>
              </a:solidFill>
            </c:spPr>
          </c:dPt>
          <c:dPt>
            <c:idx val="1"/>
            <c:spPr>
              <a:solidFill>
                <a:srgbClr val="D9A400"/>
              </a:solidFill>
            </c:spPr>
          </c:dPt>
          <c:dPt>
            <c:idx val="2"/>
            <c:spPr>
              <a:solidFill>
                <a:srgbClr val="024230"/>
              </a:solidFill>
            </c:spPr>
          </c:dPt>
          <c:dPt>
            <c:idx val="3"/>
            <c:spPr>
              <a:solidFill>
                <a:srgbClr val="D9A400"/>
              </a:solidFill>
            </c:spPr>
          </c:dPt>
          <c:dPt>
            <c:idx val="4"/>
            <c:spPr>
              <a:solidFill>
                <a:srgbClr val="024230"/>
              </a:solidFill>
            </c:spPr>
          </c:dPt>
          <c:dPt>
            <c:idx val="5"/>
            <c:spPr>
              <a:solidFill>
                <a:srgbClr val="0D8752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</a:rPr>
                      <a:t>₹400k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0201A"/>
                        </a:solidFill>
                      </a:rPr>
                      <a:t>−₹91k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</a:rPr>
                      <a:t>₹309k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0201A"/>
                        </a:solidFill>
                      </a:rPr>
                      <a:t>−₹108k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</a:rPr>
                      <a:t>₹201k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FFFFFF"/>
                        </a:solidFill>
                      </a:rPr>
                      <a:t>₹50.2k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Gross pre-cooler</c:v>
                </c:pt>
                <c:pt idx="1">
                  <c:v>Shared PV avoided</c:v>
                </c:pt>
                <c:pt idx="2">
                  <c:v>Net system</c:v>
                </c:pt>
                <c:pt idx="3">
                  <c:v>35% subsidy</c:v>
                </c:pt>
                <c:pt idx="4">
                  <c:v>Cluster net</c:v>
                </c:pt>
                <c:pt idx="5">
                  <c:v>Per farm (÷4)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400</c:v>
                </c:pt>
                <c:pt idx="1">
                  <c:v>91</c:v>
                </c:pt>
                <c:pt idx="2">
                  <c:v>309</c:v>
                </c:pt>
                <c:pt idx="3">
                  <c:v>108.15</c:v>
                </c:pt>
                <c:pt idx="4">
                  <c:v>200.85</c:v>
                </c:pt>
                <c:pt idx="5">
                  <c:v>50.2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5E0D9"/>
            </a:solidFill>
          </a:ln>
        </c:spPr>
        <c:txPr>
          <a:bodyPr/>
          <a:lstStyle/>
          <a:p>
            <a:pPr>
              <a:defRPr sz="1100">
                <a:solidFill>
                  <a:srgbClr val="10201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7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 flow</c:v>
                </c:pt>
              </c:strCache>
            </c:strRef>
          </c:tx>
          <c:spPr>
            <a:ln w="38100">
              <a:solidFill>
                <a:srgbClr val="0D8752"/>
              </a:solidFill>
            </a:ln>
          </c:spPr>
          <c:marker>
            <c:size val="9"/>
            <c:spPr>
              <a:solidFill>
                <a:srgbClr val="0D8752"/>
              </a:solidFill>
              <a:ln>
                <a:solidFill>
                  <a:srgbClr val="0D875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Day 0</c:v>
                </c:pt>
                <c:pt idx="1">
                  <c:v>Month 6</c:v>
                </c:pt>
                <c:pt idx="2">
                  <c:v>Month 12</c:v>
                </c:pt>
                <c:pt idx="3">
                  <c:v>Month 18</c:v>
                </c:pt>
                <c:pt idx="4">
                  <c:v>Month 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-50.212</c:v>
                </c:pt>
                <c:pt idx="1">
                  <c:v>-37.546</c:v>
                </c:pt>
                <c:pt idx="2">
                  <c:v>-24.88</c:v>
                </c:pt>
                <c:pt idx="3">
                  <c:v>-12.214</c:v>
                </c:pt>
                <c:pt idx="4">
                  <c:v>0.452</c:v>
                </c:pt>
              </c:numCache>
            </c:numRef>
          </c:val>
          <c:smooth val="0"/>
        </c:ser>
        <c:dLbls>
          <c:numFmt formatCode="&quot;₹&quot;#,##0.0&quot;k&quot;;&quot;−₹&quot;#,##0.0&quot;k&quot;" sourceLinked="0"/>
          <c:txPr>
            <a:bodyPr/>
            <a:lstStyle/>
            <a:p>
              <a:pPr>
                <a:defRPr sz="1200" b="1">
                  <a:solidFill>
                    <a:srgbClr val="10201A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>
            <a:solidFill>
              <a:srgbClr val="D5E0D9"/>
            </a:solidFill>
          </a:ln>
        </c:spPr>
        <c:txPr>
          <a:bodyPr/>
          <a:lstStyle/>
          <a:p>
            <a:pPr>
              <a:defRPr sz="1100">
                <a:solidFill>
                  <a:srgbClr val="10201A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.0"/>
          <c:min val="-60.0"/>
        </c:scaling>
        <c:delete val="0"/>
        <c:axPos val="l"/>
        <c:majorGridlines>
          <c:spPr>
            <a:ln>
              <a:solidFill>
                <a:srgbClr val="D5E0D9"/>
              </a:solidFill>
            </a:ln>
          </c:spPr>
        </c:majorGridlines>
        <c:numFmt formatCode="&quot;₹&quot;#,##0&quot;k&quot;;&quot;−₹&quot;#,##0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4F6159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1020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(20 s). One solar pump becomes a rural energy node: AgroStruxure is a retrofit kit for PM-KUSUM Component B pumps. It does two things: (1) caps irrigation at the crop's FAO-56 entitlement, which protects the aquifer from the solar rebound effect; (2) uses the idle midday solar to run a shared farm-gate pre-cooler for tomatoes. Headline numbers, all per hectare of tomato in Nashik: 41.2% less groundwater (7,000 m3/yr), 4,137 kWh/yr of PV output (63%) with no pumping use once water is right-sized, 1.31 t of tomatoes saved, 2.0-year payback on the farmer's share of a 4-farm pre-cooler. 63% idle is AFTER right-sizing; today with flood irrigation 37% (2,442 kWh) is idle. Team roster to be confirmed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(45 s). Three linked failures. (1) Rebound: PM-KUSUM makes daytime power free, so farmers pump until fields flood. Baseline flood use is 850 mm x 2 seasons = 17,000 m3/ha/yr versus a 10,000 m3 FAO-56 entitlement. IWMI-cited research reports 16-39% more extraction after solarisation in Rajasthan (verify exact citation before quoting). (2) Stranded solar: PV generates 6,559 kWh/yr; flood pumping uses 4,118 kWh, leaving 2,442 kWh idle (37%). Right-size the water and pumping falls to 2,422 kWh, so 4,137 kWh (63%) is idle. (3) Post-harvest: NABCONS 2022 farm-stage tomato loss is 8.37% (11.62% including market). Context: CGWB 2023 lists 736 of 6,553 assessment units as over-exploited; about 10.06 lakh Component B pumps were installed by 31 Jan 2026 (MNRE, as reported; 13.3 lakh sanctioned).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(60 s). Read the three lanes top to bottom. DATA: dual-depth FDR probes, pulse flow meter and SHT31/pyranometer feed an ESP32-S3 running a deterministic FAO-56 water budget. Control never depends on the cloud; 4G only ships validated JSON to a FastAPI service that drives the WhatsApp voice advisory. ENERGY: the 4.8 kWp array feeds a 350-600 V DC bus. A mechanically interlocked pair of TeSys D contactors transfers power between Load A (Altivar ATV320 pump, 2,422 kWh/yr) and Load B (3.8 kW DC compressor, 1,062 kWh/yr for a 4-farm cluster) with a 5 s zero-current dead-band. About 3,075 kWh/yr (47% of PV) stays as headroom and is not claimed. MONEY: 35% MIDH/AIF capital subsidy, farmer pays Rs 50,212 per farm as a share of a 4-farm pre-cooler, gains Rs 27,732/yr (Rs 15,732 spoilage + Rs 12,000 price timing) against Rs 2,400/yr opex: payback 2.0 years (3.0 without subsidy). Official deliverable 2 asks for data/energy/money flows; this slide is that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 (60 s). Baseline is unmetered flood irrigation at 850 mm per season, two seasons: 17,000 m3/ha/yr. AgroStruxure schedules to the FAO-56 entitlement: ETc 450 mm divided by 0.90 drip efficiency = 500 mm per season, 10,000 m3/yr. Saving 7,000 m3 = 41.2%. Honest attribution: conventional drip at 600 mm would already save 5,000 m3 (29.4 points); the AgroStruxure entitlement cap adds 2,000 m3 (11.8 points) and is what locks the saving against the rebound effect. The farmer needs drip in place for this: it is an assumption, not in the capex. Pumping energy at 0.242 kWh/m3 (40 m TDH, 45% wire-to-water) falls from 4,118 to 2,422 kWh. Yield is protected because the entitlement meets full crop ET; no yield uplift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(60 s). Honest energy partition for the host farm's 4.8 kWp array: 6,559 kWh/yr. Pumping uses 2,422 kWh (37%). The shared 2 MT pre-cooler serves a 4-farm cluster: 4 farms x 15 batches = 60 batches/yr, 17.7 kWh each (13.7 kWh pull-down at COP 3.0 + 4.0 kWh hold) = 1,062 kWh, i.e. 26% of the host farm's 4,137 kWh surplus and 16% of its PV output. The other three farms' arrays are not used. 3,075 kWh (47%) stays as headroom, shown for transparency and NOT counted in any benefit. Note the correction vs earlier drafts: cooling energy follows tonnes cooled (120 t/yr for the cluster = 33% of the room's 360 t/yr capacity), not days of operation. Safety: transfer happens only at 0 A after an 8 s ramp-down, closed solenoid and 5 s dead-band; the TeSys pair is mechanically and electrically interlocked.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CHAIN (45 s). NABCONS 2022 reports 8.37% farm-stage loss for tomato (11.62% in total). Rapid pull-down to 12 C is assumed to cut farm-stage loss to 4.00%, not zero. On a 30 t/ha/yr yield that preserves 1.31 t, worth Rs 15,732 at Rs 12/kg. Price timing (holding crates for the evening mandi, +Rs 1-2/kg on 8 t) adds Rs 12,000 and is price-volatile (medium confidence). Opex Rs 2,400/yr. Net Rs 25,332/yr. Thermal: 2,000 kg x 3.7 kJ/kg.K x 20 K = 41.1 kWh thermal, 13.7 kWh electric at COP 3.0, 3.43 kW over a 4 h window. Carbon: only the embodied emissions of tomatoes that are NOT wasted are counted: 1.31 t x 0.30 kg CO2e/kg = 0.39 t CO2e/ha/yr. Solar cooling is not credited against diesel because smallholders have no cooling today. The 4.00% post-cooling loss is a design target to be measured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(40 s). Farmers do not use dashboards, so the interface is a 20-second WhatsApp voice note in Marathi or Hindi, sent at state changes: pumping done, cold room online. The model is deliberately boxed in: stage 1 the MCU logs telemetry; stage 2 Pydantic validates the JSON and blocks the LLM if data is missing; stage 3 a read-only RAG prompt sees only telemetry and agronomy templates; stage 4 TTS. LLMs never control contactors; all switching is by the deterministic FreeRTOS state machine and a manual override on the IP67 box. This screen is also the UX design artifact requested in the Challenge 01 deliverables. Control works offline; the advisory needs 4G.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ECONOMICS (60 s). Gross 2 MT pre-cooler (compressor + PCM) Rs 400,000. It needs no PV of its own because it runs on the host farm's idle surplus, avoiding 2.6 kWp x Rs 35,000 = Rs 91,000. Net Rs 309,000. 35% MIDH/AIF support = Rs 108,150, leaving Rs 200,850 for the cluster, Rs 50,212 per farm. Annual gain Rs 25,332: payback 1.98 years (3.0 without subsidy). Month-by-month: -50.2k at day 0, -37.5k at month 6, -24.9k at month 12, -12.2k at month 18, +0.5k at month 24. 2.0 years = 4 harvests at 2 cycles per year. Edge controller BoM Rs 7,540 (ESP32-S3, MAX485, FDR probes, SHT31, pyranometer, flow meter, latching valve, 2 TeSys D, SMPS, SIM7600, IP67 enclosure); standalone payback 1.5 years = 3 seasons on ~Rs 5,000/yr of water, pump-health and yield protection. Combined (57,752 / 30,332) = 1.9 years. Tier B 5 MT FPO hub pays back in 4.2 years. Not included: drip hardware, which the saving assumes is already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(40 s). Four gated phases. Phase 1 (now, Q4 2026) is the software digital twin: 365-day energy, water and thermal balances, Modbus emulator, vernacular prototype; this is what Phase 2 of the hackathon (Oct 11 - Nov 22) builds on. Phase 2 hardware-in-loop bench with an Altivar ATV320 and dynamometer: 500 faultless DC transfers. Phase 3 a 20-farm, 5-cluster pilot in Nashik: exit gate is more than 35% measured water saving and 95% pre-cooler uptime over two seasons. Phase 4 250 farms across 5 FPOs. MARKET: about 10.06 lakh Component B pumps installed by 31 Jan 2026 (13.3 lakh sanctioned), 4.67 lakh in Maharashtra (Nov 2025) - confirm on the MNRE dashboard before quoting. Sahyadri FPO and Schneider's rural EPC channel are PROPOSED partners; no agreement exists yet - say so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(30 s). Four measured outcomes per hectare: 41.2% less groundwater, 4,137 kWh/yr of idle solar unlocked (of which a 4-farm pre-cooler uses 1,062 kWh), 1.31 t of tomatoes saved, 2.0-year payback. Carbon claim is deliberately modest: 0.39 t CO2e/ha/yr, embodied emissions of avoided spoilage. For Schneider: Altivar Solar drives pre-installed with the controller, EcoStruxure-aligned edge integration, and a cleantech scale path via SE Ventures. Confirm team roster and roles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640080" y="502920"/>
            <a:ext cx="5074920" cy="310896"/>
          </a:xfrm>
          <a:prstGeom prst="roundRect">
            <a:avLst>
              <a:gd name="adj" fmla="val 50000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YUVA YODHA 2026  ·  CHALLENGE 01: SUSTAINABLE AGRICULTURE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1005840"/>
            <a:ext cx="6309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FFFFFF"/>
                </a:solidFill>
                <a:latin typeface="Calibri"/>
              </a:rPr>
              <a:t>AgroStruxure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™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80" y="2103120"/>
            <a:ext cx="5852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3DCD58"/>
                </a:solidFill>
                <a:latin typeface="Calibri"/>
              </a:rPr>
              <a:t>Solar-synchronised agri-energy microgrid and precision irrigation for PM-KUSUM pumps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FFFFFF"/>
                </a:solidFill>
                <a:latin typeface="Calibri"/>
              </a:rPr>
              <a:t>“One solar pump can become a rural energy node.”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47872"/>
            <a:ext cx="5806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BFD8CB"/>
                </a:solidFill>
                <a:latin typeface="Calibri"/>
              </a:rPr>
              <a:t>A retrofit kit that caps irrigation at what the crop needs, so free daytime solar cannot over-pump the aquifer, then runs a shared farm-gate pre-cooler from the idle surplus.</a:t>
            </a:r>
          </a:p>
        </p:txBody>
      </p:sp>
      <p:sp>
        <p:nvSpPr>
          <p:cNvPr id="7" name="KPI tile 1"/>
          <p:cNvSpPr/>
          <p:nvPr/>
        </p:nvSpPr>
        <p:spPr>
          <a:xfrm>
            <a:off x="640080" y="4754880"/>
            <a:ext cx="1371600" cy="1170432"/>
          </a:xfrm>
          <a:prstGeom prst="roundRect">
            <a:avLst>
              <a:gd name="adj" fmla="val 7812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" name="KPI 1 value"/>
          <p:cNvSpPr txBox="1"/>
          <p:nvPr/>
        </p:nvSpPr>
        <p:spPr>
          <a:xfrm>
            <a:off x="731519" y="48188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3DCD58"/>
                </a:solidFill>
                <a:latin typeface="Calibri"/>
              </a:rPr>
              <a:t>41.2%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321808"/>
            <a:ext cx="1207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less groundwater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77840"/>
            <a:ext cx="1207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7,000 m³/ha/yr</a:t>
            </a:r>
          </a:p>
        </p:txBody>
      </p:sp>
      <p:sp>
        <p:nvSpPr>
          <p:cNvPr id="11" name="KPI tile 2"/>
          <p:cNvSpPr/>
          <p:nvPr/>
        </p:nvSpPr>
        <p:spPr>
          <a:xfrm>
            <a:off x="2121408" y="4754880"/>
            <a:ext cx="1371600" cy="1170432"/>
          </a:xfrm>
          <a:prstGeom prst="roundRect">
            <a:avLst>
              <a:gd name="adj" fmla="val 7812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2" name="KPI 2 value"/>
          <p:cNvSpPr txBox="1"/>
          <p:nvPr/>
        </p:nvSpPr>
        <p:spPr>
          <a:xfrm>
            <a:off x="2212848" y="48188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CE00"/>
                </a:solidFill>
                <a:latin typeface="Calibri"/>
              </a:rPr>
              <a:t>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5321808"/>
            <a:ext cx="1207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of PV output idle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5577840"/>
            <a:ext cx="1207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after right-sizing water</a:t>
            </a:r>
          </a:p>
        </p:txBody>
      </p:sp>
      <p:sp>
        <p:nvSpPr>
          <p:cNvPr id="15" name="KPI tile 3"/>
          <p:cNvSpPr/>
          <p:nvPr/>
        </p:nvSpPr>
        <p:spPr>
          <a:xfrm>
            <a:off x="3602736" y="4754880"/>
            <a:ext cx="1371600" cy="1170432"/>
          </a:xfrm>
          <a:prstGeom prst="roundRect">
            <a:avLst>
              <a:gd name="adj" fmla="val 7812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6" name="KPI 3 value"/>
          <p:cNvSpPr txBox="1"/>
          <p:nvPr/>
        </p:nvSpPr>
        <p:spPr>
          <a:xfrm>
            <a:off x="3694176" y="48188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9A3F5"/>
                </a:solidFill>
                <a:latin typeface="Calibri"/>
              </a:rPr>
              <a:t>1.31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5321808"/>
            <a:ext cx="1207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tomatoes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5577840"/>
            <a:ext cx="1207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per ha per year</a:t>
            </a:r>
          </a:p>
        </p:txBody>
      </p:sp>
      <p:sp>
        <p:nvSpPr>
          <p:cNvPr id="19" name="KPI tile 4"/>
          <p:cNvSpPr/>
          <p:nvPr/>
        </p:nvSpPr>
        <p:spPr>
          <a:xfrm>
            <a:off x="5084064" y="4754880"/>
            <a:ext cx="1371600" cy="1170432"/>
          </a:xfrm>
          <a:prstGeom prst="roundRect">
            <a:avLst>
              <a:gd name="adj" fmla="val 7812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KPI 4 value"/>
          <p:cNvSpPr txBox="1"/>
          <p:nvPr/>
        </p:nvSpPr>
        <p:spPr>
          <a:xfrm>
            <a:off x="5175504" y="48188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7FD0F7"/>
                </a:solidFill>
                <a:latin typeface="Calibri"/>
              </a:rPr>
              <a:t>2.0 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5321808"/>
            <a:ext cx="12070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capital 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5577840"/>
            <a:ext cx="12070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₹50,212 net per farm</a:t>
            </a:r>
          </a:p>
        </p:txBody>
      </p:sp>
      <p:sp>
        <p:nvSpPr>
          <p:cNvPr id="23" name="Team"/>
          <p:cNvSpPr txBox="1"/>
          <p:nvPr/>
        </p:nvSpPr>
        <p:spPr>
          <a:xfrm>
            <a:off x="640080" y="6053328"/>
            <a:ext cx="5852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FD8CB"/>
                </a:solidFill>
                <a:latin typeface="Calibri"/>
              </a:rPr>
              <a:t>Sanskar Tiwari (Firmware, lead)  ·  Shambhavi Patil (Geospatial)  ·  Kanishka Salgude (Power / VFD)  ·  Chaitanya Ranade (Agronomy / Product)</a:t>
            </a:r>
          </a:p>
        </p:txBody>
      </p:sp>
      <p:sp>
        <p:nvSpPr>
          <p:cNvPr id="24" name="System schematic card" descr="Schematic: PV array feeds the AgroStruxure controller, which splits power between a drip-irrigation pump and a shared pre-cooler"/>
          <p:cNvSpPr/>
          <p:nvPr/>
        </p:nvSpPr>
        <p:spPr>
          <a:xfrm>
            <a:off x="6949440" y="502920"/>
            <a:ext cx="4709160" cy="5760720"/>
          </a:xfrm>
          <a:prstGeom prst="roundRect">
            <a:avLst>
              <a:gd name="adj" fmla="val 3106"/>
            </a:avLst>
          </a:prstGeom>
          <a:solidFill>
            <a:srgbClr val="06553E"/>
          </a:solidFill>
          <a:ln w="9525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7498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ONE PUMP  ·  TWO LOADS  ·  ONE CONTROLLER</a:t>
            </a:r>
          </a:p>
        </p:txBody>
      </p:sp>
      <p:sp>
        <p:nvSpPr>
          <p:cNvPr id="26" name="Sun icon"/>
          <p:cNvSpPr/>
          <p:nvPr/>
        </p:nvSpPr>
        <p:spPr>
          <a:xfrm>
            <a:off x="7452360" y="1188720"/>
            <a:ext cx="731520" cy="731520"/>
          </a:xfrm>
          <a:prstGeom prst="sun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125272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4.8 kWp PV array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FD8CB"/>
                </a:solidFill>
                <a:latin typeface="Calibri"/>
              </a:rPr>
              <a:t>6,559 kWh per year</a:t>
            </a:r>
          </a:p>
        </p:txBody>
      </p:sp>
      <p:cxnSp>
        <p:nvCxnSpPr>
          <p:cNvPr id="28" name="Energy arrow PV to controller"/>
          <p:cNvCxnSpPr/>
          <p:nvPr/>
        </p:nvCxnSpPr>
        <p:spPr>
          <a:xfrm>
            <a:off x="9299448" y="2011680"/>
            <a:ext cx="0" cy="530352"/>
          </a:xfrm>
          <a:prstGeom prst="line">
            <a:avLst/>
          </a:prstGeom>
          <a:ln w="38100">
            <a:solidFill>
              <a:srgbClr val="FFC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roller"/>
          <p:cNvSpPr/>
          <p:nvPr/>
        </p:nvSpPr>
        <p:spPr>
          <a:xfrm>
            <a:off x="7452360" y="2560320"/>
            <a:ext cx="3703320" cy="1005840"/>
          </a:xfrm>
          <a:prstGeom prst="roundRect">
            <a:avLst>
              <a:gd name="adj" fmla="val 10909"/>
            </a:avLst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024230"/>
                </a:solidFill>
                <a:latin typeface="Calibri"/>
              </a:rPr>
              <a:t>AgroStruxure edge controller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24230"/>
                </a:solidFill>
                <a:latin typeface="Calibri"/>
              </a:rPr>
              <a:t>FAO-56 budget · field-capacity cutoff · TeSys changeover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0" y="3584448"/>
            <a:ext cx="0" cy="530352"/>
          </a:xfrm>
          <a:prstGeom prst="line">
            <a:avLst/>
          </a:prstGeom>
          <a:ln w="38100">
            <a:solidFill>
              <a:srgbClr val="FFC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41280" y="3584448"/>
            <a:ext cx="0" cy="530352"/>
          </a:xfrm>
          <a:prstGeom prst="line">
            <a:avLst/>
          </a:prstGeom>
          <a:ln w="38100">
            <a:solidFill>
              <a:srgbClr val="FFCE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ad A"/>
          <p:cNvSpPr/>
          <p:nvPr/>
        </p:nvSpPr>
        <p:spPr>
          <a:xfrm>
            <a:off x="7315200" y="4133087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Right-sized drip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Altivar ATV320 pump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2,422 kWh/yr</a:t>
            </a:r>
          </a:p>
        </p:txBody>
      </p:sp>
      <p:sp>
        <p:nvSpPr>
          <p:cNvPr id="33" name="Load B"/>
          <p:cNvSpPr/>
          <p:nvPr/>
        </p:nvSpPr>
        <p:spPr>
          <a:xfrm>
            <a:off x="9646920" y="4133087"/>
            <a:ext cx="1828800" cy="1097280"/>
          </a:xfrm>
          <a:prstGeom prst="roundRect">
            <a:avLst>
              <a:gd name="adj" fmla="val 10000"/>
            </a:avLst>
          </a:prstGeom>
          <a:solidFill>
            <a:srgbClr val="7A1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Shared pre-cooler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4-farm cluster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1,062 kWh/yr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4406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−41.2% groundwater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54406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−52% farm-gate 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58978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Altivar Solar ATV320  ·  TeSys D  ·  Modbus RTU  ·  EcoStruxure-aligned</a:t>
            </a:r>
          </a:p>
        </p:txBody>
      </p:sp>
      <p:sp>
        <p:nvSpPr>
          <p:cNvPr id="37" name="Sources"/>
          <p:cNvSpPr txBox="1"/>
          <p:nvPr/>
        </p:nvSpPr>
        <p:spPr>
          <a:xfrm>
            <a:off x="64008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Model: research/08_IMPACT/impact_model.py (1 ha tomato, Nashik, 4.8 kWp PM-KUSUM Component B pump). 63% idle PV = after irrigation is right-sized (37% idle today).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PROBLEM  ·  THE SOLAR REBOUND EFFECT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Free Solar Power Accelerates </a:t>
            </a:r>
            <a:r>
              <a:rPr sz="3200" b="1" i="0">
                <a:solidFill>
                  <a:srgbClr val="0D8752"/>
                </a:solidFill>
                <a:latin typeface="Calibri"/>
              </a:rPr>
              <a:t>Groundwater Collapse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Under PM-KUSUM Component B, daytime pumping costs nothing, so nothing limits the water drawn, and the sun goes unused.</a:t>
            </a:r>
          </a:p>
        </p:txBody>
      </p:sp>
      <p:sp>
        <p:nvSpPr>
          <p:cNvPr id="6" name="Chart card"/>
          <p:cNvSpPr/>
          <p:nvPr/>
        </p:nvSpPr>
        <p:spPr>
          <a:xfrm>
            <a:off x="548640" y="2103120"/>
            <a:ext cx="46634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Annual energy, one 4.8 kWp pump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F6159"/>
                </a:solidFill>
                <a:latin typeface="Calibri"/>
              </a:rPr>
              <a:t>1 ha tomato, kWh per year</a:t>
            </a:r>
          </a:p>
        </p:txBody>
      </p:sp>
      <p:graphicFrame>
        <p:nvGraphicFramePr>
          <p:cNvPr id="8" name="Energy chart" descr="Column chart: solar generation 6,559 kWh, flood pumping 4,118 kWh, right-sized pumping 2,422 kWh"/>
          <p:cNvGraphicFramePr>
            <a:graphicFrameLocks noGrp="1"/>
          </p:cNvGraphicFramePr>
          <p:nvPr/>
        </p:nvGraphicFramePr>
        <p:xfrm>
          <a:off x="731520" y="2743200"/>
          <a:ext cx="429768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38928"/>
            <a:ext cx="4251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0201A"/>
                </a:solidFill>
                <a:latin typeface="Calibri"/>
              </a:rPr>
              <a:t>Today: </a:t>
            </a:r>
            <a:r>
              <a:rPr sz="1400" b="0" i="0">
                <a:solidFill>
                  <a:srgbClr val="10201A"/>
                </a:solidFill>
                <a:latin typeface="Calibri"/>
              </a:rPr>
              <a:t>2,442 kWh idle (37%).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10201A"/>
                </a:solidFill>
                <a:latin typeface="Calibri"/>
              </a:rPr>
              <a:t>Right-sized: </a:t>
            </a:r>
            <a:r>
              <a:rPr sz="1400" b="0" i="0">
                <a:solidFill>
                  <a:srgbClr val="10201A"/>
                </a:solidFill>
                <a:latin typeface="Calibri"/>
              </a:rPr>
              <a:t>4,137 kWh idle (63%), because the pump now needs 1,696 kWh less.</a:t>
            </a:r>
          </a:p>
        </p:txBody>
      </p:sp>
      <p:sp>
        <p:nvSpPr>
          <p:cNvPr id="10" name="Problem card 01"/>
          <p:cNvSpPr/>
          <p:nvPr/>
        </p:nvSpPr>
        <p:spPr>
          <a:xfrm>
            <a:off x="5486400" y="2103120"/>
            <a:ext cx="6153912" cy="1261872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2304288"/>
            <a:ext cx="457200" cy="457200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311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4230"/>
                </a:solidFill>
                <a:latin typeface="Calibri"/>
              </a:rPr>
              <a:t>Free power, unlimited pumping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Flood irrigation applies 17,000 m³/ha/yr against a 10,000 m³ crop entitlement. Zero marginal cost removes any reason to stop.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31136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0087CD"/>
                </a:solidFill>
                <a:latin typeface="Calibri"/>
              </a:rPr>
              <a:t>16–39%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761487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more water pumped after solarisation (Rajasthan study, IWMI)</a:t>
            </a:r>
          </a:p>
        </p:txBody>
      </p:sp>
      <p:sp>
        <p:nvSpPr>
          <p:cNvPr id="16" name="Problem card 02"/>
          <p:cNvSpPr/>
          <p:nvPr/>
        </p:nvSpPr>
        <p:spPr>
          <a:xfrm>
            <a:off x="5486400" y="3474720"/>
            <a:ext cx="6153912" cy="1261872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0" y="3675887"/>
            <a:ext cx="457200" cy="457200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4230"/>
                </a:solidFill>
                <a:latin typeface="Calibri"/>
              </a:rPr>
              <a:t>Solar capacity stranded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319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Once the water is right-sized, most of the array's output has no pumping use: a stranded asset at midday.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602736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8A6200"/>
                </a:solidFill>
                <a:latin typeface="Calibri"/>
              </a:rPr>
              <a:t>63%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4133087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of PV output idle after right-sizing water</a:t>
            </a:r>
          </a:p>
        </p:txBody>
      </p:sp>
      <p:sp>
        <p:nvSpPr>
          <p:cNvPr id="22" name="Problem card 03"/>
          <p:cNvSpPr/>
          <p:nvPr/>
        </p:nvSpPr>
        <p:spPr>
          <a:xfrm>
            <a:off x="5486400" y="4846320"/>
            <a:ext cx="6153912" cy="1261872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69280" y="5047488"/>
            <a:ext cx="457200" cy="457200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74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24230"/>
                </a:solidFill>
                <a:latin typeface="Calibri"/>
              </a:rPr>
              <a:t>Harvest rots where the power 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035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No cold chain at the farm gate: tomatoes are lost at farm stage (11.62% including market handling).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974336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7A18D8"/>
                </a:solidFill>
                <a:latin typeface="Calibri"/>
              </a:rPr>
              <a:t>8.37%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5504688"/>
            <a:ext cx="1783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farm-stage tomato loss (NABCONS 2022, MoFPI)</a:t>
            </a:r>
          </a:p>
        </p:txBody>
      </p:sp>
      <p:sp>
        <p:nvSpPr>
          <p:cNvPr id="28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Sources: CGWB National Compilation 2023 (736 of 6,553 assessment units over-exploited) · NABCONS 2022 for MoFPI · IWMI (Shah et al.) · MNRE PM-KUSUM progress (≈10.06 lakh Component B pumps installed by 31 Jan 2026). Model: research/08_IMPACT/impact_model.py (1 ha tomato, Nashik, 4.8 kWp PM-KUSUM Component B pump).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ARCHITECTURE  ·  ECOSTRUXURE-ALIGNED, EDGE-FIRST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One Retrofit Kit, Three Flows: </a:t>
            </a:r>
            <a:r>
              <a:rPr sz="3200" b="1" i="0">
                <a:solidFill>
                  <a:srgbClr val="0D8752"/>
                </a:solidFill>
                <a:latin typeface="Calibri"/>
              </a:rPr>
              <a:t>Data, Energy, Money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Sensing, switching and settlement in one design. The controller works offline; the cloud only advises.</a:t>
            </a:r>
          </a:p>
        </p:txBody>
      </p:sp>
      <p:sp>
        <p:nvSpPr>
          <p:cNvPr id="6" name="DATA lane label"/>
          <p:cNvSpPr/>
          <p:nvPr/>
        </p:nvSpPr>
        <p:spPr>
          <a:xfrm>
            <a:off x="548640" y="2084831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sense → advise</a:t>
            </a:r>
          </a:p>
        </p:txBody>
      </p:sp>
      <p:sp>
        <p:nvSpPr>
          <p:cNvPr id="7" name="DATA lane band"/>
          <p:cNvSpPr/>
          <p:nvPr/>
        </p:nvSpPr>
        <p:spPr>
          <a:xfrm>
            <a:off x="1554480" y="2084831"/>
            <a:ext cx="10085832" cy="1325880"/>
          </a:xfrm>
          <a:prstGeom prst="roundRect">
            <a:avLst>
              <a:gd name="adj" fmla="val 6896"/>
            </a:avLst>
          </a:prstGeom>
          <a:solidFill>
            <a:srgbClr val="E2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" name="ENERGY lane label"/>
          <p:cNvSpPr/>
          <p:nvPr/>
        </p:nvSpPr>
        <p:spPr>
          <a:xfrm>
            <a:off x="548640" y="3493008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9C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ENERGY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DC bus → loads</a:t>
            </a:r>
          </a:p>
        </p:txBody>
      </p:sp>
      <p:sp>
        <p:nvSpPr>
          <p:cNvPr id="9" name="ENERGY lane band"/>
          <p:cNvSpPr/>
          <p:nvPr/>
        </p:nvSpPr>
        <p:spPr>
          <a:xfrm>
            <a:off x="1554480" y="3493008"/>
            <a:ext cx="10085832" cy="1325880"/>
          </a:xfrm>
          <a:prstGeom prst="roundRect">
            <a:avLst>
              <a:gd name="adj" fmla="val 6896"/>
            </a:avLst>
          </a:prstGeom>
          <a:solidFill>
            <a:srgbClr val="FFF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" name="MONEY lane label"/>
          <p:cNvSpPr/>
          <p:nvPr/>
        </p:nvSpPr>
        <p:spPr>
          <a:xfrm>
            <a:off x="548640" y="4901184"/>
            <a:ext cx="914400" cy="1325880"/>
          </a:xfrm>
          <a:prstGeom prst="roundRect">
            <a:avLst>
              <a:gd name="adj" fmla="val 10000"/>
            </a:avLst>
          </a:prstGeom>
          <a:solidFill>
            <a:srgbClr val="0D8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MONEY</a:t>
            </a:r>
          </a:p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subsidy → payback</a:t>
            </a:r>
          </a:p>
        </p:txBody>
      </p:sp>
      <p:sp>
        <p:nvSpPr>
          <p:cNvPr id="11" name="MONEY lane band"/>
          <p:cNvSpPr/>
          <p:nvPr/>
        </p:nvSpPr>
        <p:spPr>
          <a:xfrm>
            <a:off x="1554480" y="4901184"/>
            <a:ext cx="10085832" cy="1325880"/>
          </a:xfrm>
          <a:prstGeom prst="roundRect">
            <a:avLst>
              <a:gd name="adj" fmla="val 6896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2" name="Data node 1"/>
          <p:cNvSpPr/>
          <p:nvPr/>
        </p:nvSpPr>
        <p:spPr>
          <a:xfrm>
            <a:off x="1664208" y="2194560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08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Field sensors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FDR probes at 10 and 30 cm · flow meter · SHT31 · pyranometer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743200"/>
            <a:ext cx="228600" cy="0"/>
          </a:xfrm>
          <a:prstGeom prst="line">
            <a:avLst/>
          </a:prstGeom>
          <a:ln w="31750">
            <a:solidFill>
              <a:srgbClr val="0087C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ata node 2"/>
          <p:cNvSpPr/>
          <p:nvPr/>
        </p:nvSpPr>
        <p:spPr>
          <a:xfrm>
            <a:off x="4187952" y="2194560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08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Edge controller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ESP32-S3 · FAO-56 budget · field-capacity cutoff · commands the changeover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55664" y="2743200"/>
            <a:ext cx="228600" cy="0"/>
          </a:xfrm>
          <a:prstGeom prst="line">
            <a:avLst/>
          </a:prstGeom>
          <a:ln w="31750">
            <a:solidFill>
              <a:srgbClr val="0087C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 node 3"/>
          <p:cNvSpPr/>
          <p:nvPr/>
        </p:nvSpPr>
        <p:spPr>
          <a:xfrm>
            <a:off x="6711696" y="2194560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08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4G gateway → FastAPI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Validated JSON (Pydantic) · read-only AI copilot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79407" y="2743200"/>
            <a:ext cx="228601" cy="0"/>
          </a:xfrm>
          <a:prstGeom prst="line">
            <a:avLst/>
          </a:prstGeom>
          <a:ln w="31750">
            <a:solidFill>
              <a:srgbClr val="0087C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ata node 4"/>
          <p:cNvSpPr/>
          <p:nvPr/>
        </p:nvSpPr>
        <p:spPr>
          <a:xfrm>
            <a:off x="9235440" y="2194560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08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WhatsApp voice advice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Marathi / Hindi · no app, no dashboard</a:t>
            </a:r>
          </a:p>
        </p:txBody>
      </p:sp>
      <p:sp>
        <p:nvSpPr>
          <p:cNvPr id="19" name="Energy node 1"/>
          <p:cNvSpPr/>
          <p:nvPr/>
        </p:nvSpPr>
        <p:spPr>
          <a:xfrm>
            <a:off x="1664208" y="3602736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9C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4.8 kWp PV array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6,559 kWh/yr · 350–600 V DC bus</a:t>
            </a:r>
          </a:p>
        </p:txBody>
      </p:sp>
      <p:sp>
        <p:nvSpPr>
          <p:cNvPr id="20" name="Energy node 2"/>
          <p:cNvSpPr/>
          <p:nvPr/>
        </p:nvSpPr>
        <p:spPr>
          <a:xfrm>
            <a:off x="4187952" y="3602736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9C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TeSys D changeover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2× LC1D09BD interlocked · 5 s dead-band at 0 A</a:t>
            </a:r>
          </a:p>
        </p:txBody>
      </p:sp>
      <p:sp>
        <p:nvSpPr>
          <p:cNvPr id="21" name="Energy node 3a"/>
          <p:cNvSpPr/>
          <p:nvPr/>
        </p:nvSpPr>
        <p:spPr>
          <a:xfrm>
            <a:off x="6711696" y="3602736"/>
            <a:ext cx="22402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9050">
            <a:solidFill>
              <a:srgbClr val="0087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Load A · ATV320 pump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0201A"/>
                </a:solidFill>
                <a:latin typeface="Calibri"/>
              </a:rPr>
              <a:t>2,422 kWh/yr · 08:30–11:30</a:t>
            </a:r>
          </a:p>
        </p:txBody>
      </p:sp>
      <p:sp>
        <p:nvSpPr>
          <p:cNvPr id="22" name="Energy node 3b"/>
          <p:cNvSpPr/>
          <p:nvPr/>
        </p:nvSpPr>
        <p:spPr>
          <a:xfrm>
            <a:off x="6711696" y="4178808"/>
            <a:ext cx="224028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 w="19050">
            <a:solidFill>
              <a:srgbClr val="7A1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Load B · cluster cooler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0201A"/>
                </a:solidFill>
                <a:latin typeface="Calibri"/>
              </a:rPr>
              <a:t>1,062 kWh/yr · 11:30–15:30</a:t>
            </a:r>
          </a:p>
        </p:txBody>
      </p:sp>
      <p:sp>
        <p:nvSpPr>
          <p:cNvPr id="23" name="Energy node 4"/>
          <p:cNvSpPr/>
          <p:nvPr/>
        </p:nvSpPr>
        <p:spPr>
          <a:xfrm>
            <a:off x="9235440" y="3602736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9C7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Idle headroom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3,075 kWh/yr (47% of PV). Not claimed as a benefit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31920" y="4151376"/>
            <a:ext cx="228600" cy="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455664" y="3877056"/>
            <a:ext cx="228600" cy="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55664" y="4443984"/>
            <a:ext cx="228600" cy="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79407" y="4151376"/>
            <a:ext cx="228601" cy="0"/>
          </a:xfrm>
          <a:prstGeom prst="line">
            <a:avLst/>
          </a:prstGeom>
          <a:ln w="38100">
            <a:solidFill>
              <a:srgbClr val="9C74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Money node 1"/>
          <p:cNvSpPr/>
          <p:nvPr/>
        </p:nvSpPr>
        <p:spPr>
          <a:xfrm>
            <a:off x="1664208" y="5010912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35% MIDH / AIF subsidy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₹108,150 off a ₹309,000 net system cost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931920" y="5559552"/>
            <a:ext cx="228600" cy="0"/>
          </a:xfrm>
          <a:prstGeom prst="line">
            <a:avLst/>
          </a:prstGeom>
          <a:ln w="31750">
            <a:solidFill>
              <a:srgbClr val="0D8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oney node 2"/>
          <p:cNvSpPr/>
          <p:nvPr/>
        </p:nvSpPr>
        <p:spPr>
          <a:xfrm>
            <a:off x="4187952" y="5010912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Farmer capex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₹50,212 per farm (4-farm cluster) + ₹2,400/yr opex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55664" y="5559552"/>
            <a:ext cx="228600" cy="0"/>
          </a:xfrm>
          <a:prstGeom prst="line">
            <a:avLst/>
          </a:prstGeom>
          <a:ln w="31750">
            <a:solidFill>
              <a:srgbClr val="0D8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Money node 3"/>
          <p:cNvSpPr/>
          <p:nvPr/>
        </p:nvSpPr>
        <p:spPr>
          <a:xfrm>
            <a:off x="6711696" y="5010912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Annual farmer gain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₹15,732 spoilage saved + ₹12,000 timing = ₹27,732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79407" y="5559552"/>
            <a:ext cx="228601" cy="0"/>
          </a:xfrm>
          <a:prstGeom prst="line">
            <a:avLst/>
          </a:prstGeom>
          <a:ln w="31750">
            <a:solidFill>
              <a:srgbClr val="0D8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Money node 4"/>
          <p:cNvSpPr/>
          <p:nvPr/>
        </p:nvSpPr>
        <p:spPr>
          <a:xfrm>
            <a:off x="9235440" y="5010912"/>
            <a:ext cx="2240280" cy="1106424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19050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Capital payback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2.0 years (3.0 without subsidy)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308092" y="3300984"/>
            <a:ext cx="0" cy="301752"/>
          </a:xfrm>
          <a:prstGeom prst="line">
            <a:avLst/>
          </a:prstGeom>
          <a:ln w="31750">
            <a:solidFill>
              <a:srgbClr val="0087C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831836" y="4709160"/>
            <a:ext cx="0" cy="301752"/>
          </a:xfrm>
          <a:prstGeom prst="line">
            <a:avLst/>
          </a:prstGeom>
          <a:ln w="31750">
            <a:solidFill>
              <a:srgbClr val="0D87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Standards: IEC 60947-4-1 (TeSys D) · Altivar ATV320 Modbus: Reg 8501 command word, 8502 speed reference · Schneider EcoStruxure 3-tier pattern (connected products → edge control → apps &amp; analytics).</a:t>
            </a:r>
          </a:p>
        </p:txBody>
      </p:sp>
      <p:sp>
        <p:nvSpPr>
          <p:cNvPr id="38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365760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HYDROLOGY  ·  CLOSED-LOOP WATER BUDGETING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41.2% Less Groundwater, </a:t>
            </a:r>
            <a:r>
              <a:rPr sz="3200" b="1" i="0">
                <a:solidFill>
                  <a:srgbClr val="0087CD"/>
                </a:solidFill>
                <a:latin typeface="Calibri"/>
              </a:rPr>
              <a:t>Full Crop Requirement Met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A dual-Kc FAO-56 budget sets the entitlement; dual-depth FDR probes stop the pump at field capacity.</a:t>
            </a:r>
          </a:p>
        </p:txBody>
      </p:sp>
      <p:sp>
        <p:nvSpPr>
          <p:cNvPr id="6" name="Soil card"/>
          <p:cNvSpPr/>
          <p:nvPr/>
        </p:nvSpPr>
        <p:spPr>
          <a:xfrm>
            <a:off x="548640" y="2103120"/>
            <a:ext cx="47091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Dual-depth soil moisture profile</a:t>
            </a:r>
          </a:p>
        </p:txBody>
      </p:sp>
      <p:sp>
        <p:nvSpPr>
          <p:cNvPr id="8" name="Soil band 1"/>
          <p:cNvSpPr/>
          <p:nvPr/>
        </p:nvSpPr>
        <p:spPr>
          <a:xfrm>
            <a:off x="777240" y="2651760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FFF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35F00"/>
                </a:solidFill>
                <a:latin typeface="Calibri"/>
              </a:rPr>
              <a:t>0–10 cm  ·  surface probe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Evaporative zone, typically 18–32% VWC. Tracks diurnal loss.</a:t>
            </a:r>
          </a:p>
        </p:txBody>
      </p:sp>
      <p:sp>
        <p:nvSpPr>
          <p:cNvPr id="9" name="Soil band 2"/>
          <p:cNvSpPr/>
          <p:nvPr/>
        </p:nvSpPr>
        <p:spPr>
          <a:xfrm>
            <a:off x="777240" y="3675887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D8752"/>
                </a:solidFill>
                <a:latin typeface="Calibri"/>
              </a:rPr>
              <a:t>10–40 cm  ·  root-zone probe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Irrigation stops at field capacity (45% VWC), so there is no root-zone hypoxia.</a:t>
            </a:r>
          </a:p>
        </p:txBody>
      </p:sp>
      <p:sp>
        <p:nvSpPr>
          <p:cNvPr id="10" name="Soil band 3"/>
          <p:cNvSpPr/>
          <p:nvPr/>
        </p:nvSpPr>
        <p:spPr>
          <a:xfrm>
            <a:off x="777240" y="4700016"/>
            <a:ext cx="4251960" cy="914400"/>
          </a:xfrm>
          <a:prstGeom prst="roundRect">
            <a:avLst>
              <a:gd name="adj" fmla="val 8000"/>
            </a:avLst>
          </a:prstGeom>
          <a:solidFill>
            <a:srgbClr val="EE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F6159"/>
                </a:solidFill>
                <a:latin typeface="Calibri"/>
              </a:rPr>
              <a:t>40 cm +  ·  deep percolation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Pulsed drip leaves nothing to leach below the root zone.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42432"/>
            <a:ext cx="4251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Cutoffs are calibrated per soil type.</a:t>
            </a:r>
          </a:p>
        </p:txBody>
      </p:sp>
      <p:sp>
        <p:nvSpPr>
          <p:cNvPr id="12" name="Water card"/>
          <p:cNvSpPr/>
          <p:nvPr/>
        </p:nvSpPr>
        <p:spPr>
          <a:xfrm>
            <a:off x="5486400" y="2103120"/>
            <a:ext cx="6153912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2402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Water applied, m³ per hectare per year</a:t>
            </a:r>
          </a:p>
        </p:txBody>
      </p:sp>
      <p:graphicFrame>
        <p:nvGraphicFramePr>
          <p:cNvPr id="14" name="Water chart" descr="Column chart: flood 17,000, conventional drip 12,000, AgroStruxure 10,000 cubic metres per hectare per year"/>
          <p:cNvGraphicFramePr>
            <a:graphicFrameLocks noGrp="1"/>
          </p:cNvGraphicFramePr>
          <p:nvPr/>
        </p:nvGraphicFramePr>
        <p:xfrm>
          <a:off x="5623560" y="2514600"/>
          <a:ext cx="329184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052560" y="2697480"/>
            <a:ext cx="2423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087CD"/>
                </a:solidFill>
                <a:latin typeface="Calibri"/>
              </a:rPr>
              <a:t>7,000 m³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F6159"/>
                </a:solidFill>
                <a:latin typeface="Calibri"/>
              </a:rPr>
              <a:t>conserved per ha per year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01A"/>
                </a:solidFill>
                <a:latin typeface="Calibri"/>
              </a:rPr>
              <a:t>5,000 m³ </a:t>
            </a:r>
            <a:r>
              <a:rPr sz="1300" b="0" i="0">
                <a:solidFill>
                  <a:srgbClr val="10201A"/>
                </a:solidFill>
                <a:latin typeface="Calibri"/>
              </a:rPr>
              <a:t>from drip hardware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0201A"/>
                </a:solidFill>
                <a:latin typeface="Calibri"/>
              </a:rPr>
              <a:t>2,000 m³ </a:t>
            </a:r>
            <a:r>
              <a:rPr sz="1300" b="0" i="0">
                <a:solidFill>
                  <a:srgbClr val="10201A"/>
                </a:solidFill>
                <a:latin typeface="Calibri"/>
              </a:rPr>
              <a:t>from the entitlement cap, locked against rebound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15000" y="4754880"/>
          <a:ext cx="5715000" cy="9875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20240"/>
                <a:gridCol w="1188720"/>
                <a:gridCol w="1371600"/>
                <a:gridCol w="1234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Per hectare per year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024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Flood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024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AgroStruxure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0242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02423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0201A"/>
                          </a:solidFill>
                          <a:latin typeface="Calibri"/>
                        </a:rPr>
                        <a:t>Water applied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17,000 m³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10,000 m³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7FA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−7,000 m³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7FA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0201A"/>
                          </a:solidFill>
                          <a:latin typeface="Calibri"/>
                        </a:rPr>
                        <a:t>Pumping electricity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4,118 kWh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2,422 kWh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0201A"/>
                          </a:solidFill>
                          <a:latin typeface="Consolas"/>
                        </a:rPr>
                        <a:t>−1,696 kWh</a:t>
                      </a:r>
                    </a:p>
                  </a:txBody>
                  <a:tcPr marL="91440" marR="91440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15000" y="5779008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Assumes drip is already installed (existing or subsidised). Drip hardware is not in the capex.</a:t>
            </a:r>
          </a:p>
        </p:txBody>
      </p:sp>
      <p:sp>
        <p:nvSpPr>
          <p:cNvPr id="18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FAO Irrigation &amp; Drainage Paper 56 (Allen et al.) · Flood baseline 850 mm × 2 seasons; entitlement ETc 450 mm ÷ 0.90 drip efficiency → 500 mm; 0.242 kWh/m³ at 40 m head. Model: research/08_IMPACT/impact_model.py (1 ha tomato, Nashik, 4.8 kWp PM-KUSUM Component B pump).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411480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POWER ENGINEERING  ·  UPSTREAM DC BUS ROUTING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Cooling a 4-Farm Cluster Uses </a:t>
            </a:r>
            <a:r>
              <a:rPr sz="3200" b="1" i="0">
                <a:solidFill>
                  <a:srgbClr val="8A6200"/>
                </a:solidFill>
                <a:latin typeface="Calibri"/>
              </a:rPr>
              <a:t>26% of One Farm's Idle Solar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Power is switched upstream on the DC bus at zero current, so no inductive spike reaches the drive.</a:t>
            </a:r>
          </a:p>
        </p:txBody>
      </p:sp>
      <p:sp>
        <p:nvSpPr>
          <p:cNvPr id="6" name="Energy split card"/>
          <p:cNvSpPr/>
          <p:nvPr/>
        </p:nvSpPr>
        <p:spPr>
          <a:xfrm>
            <a:off x="548640" y="210312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Where the host farm's 6,559 kWh/yr goes (kWh)</a:t>
            </a:r>
          </a:p>
        </p:txBody>
      </p:sp>
      <p:graphicFrame>
        <p:nvGraphicFramePr>
          <p:cNvPr id="8" name="Energy split chart" descr="Stacked bar: pumping 2,422 kWh, cluster cold chain 1,062 kWh, headroom 3,075 kWh"/>
          <p:cNvGraphicFramePr>
            <a:graphicFrameLocks noGrp="1"/>
          </p:cNvGraphicFramePr>
          <p:nvPr/>
        </p:nvGraphicFramePr>
        <p:xfrm>
          <a:off x="685800" y="2487168"/>
          <a:ext cx="5212080" cy="1188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3685032"/>
            <a:ext cx="5029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0201A"/>
                </a:solidFill>
                <a:latin typeface="Calibri"/>
              </a:rPr>
              <a:t>1,062 kWh = 26% of the 4,137 kWh surplus. </a:t>
            </a:r>
            <a:r>
              <a:rPr sz="1300" b="0" i="0">
                <a:solidFill>
                  <a:srgbClr val="10201A"/>
                </a:solidFill>
                <a:latin typeface="Calibri"/>
              </a:rPr>
              <a:t>60 batches a year (4 farms × 15) at 17.7 kWh each. Headroom is reported, not claimed.</a:t>
            </a:r>
          </a:p>
        </p:txBody>
      </p:sp>
      <p:sp>
        <p:nvSpPr>
          <p:cNvPr id="10" name="SLD card"/>
          <p:cNvSpPr/>
          <p:nvPr/>
        </p:nvSpPr>
        <p:spPr>
          <a:xfrm>
            <a:off x="548640" y="452628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Single-line diagram</a:t>
            </a:r>
          </a:p>
        </p:txBody>
      </p:sp>
      <p:sp>
        <p:nvSpPr>
          <p:cNvPr id="12" name="SLD PV"/>
          <p:cNvSpPr/>
          <p:nvPr/>
        </p:nvSpPr>
        <p:spPr>
          <a:xfrm>
            <a:off x="777240" y="502920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0201A"/>
                </a:solidFill>
                <a:latin typeface="Calibri"/>
              </a:rPr>
              <a:t>PV array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10201A"/>
                </a:solidFill>
                <a:latin typeface="Calibri"/>
              </a:rPr>
              <a:t>350–600 V 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29968" y="5458968"/>
            <a:ext cx="457200" cy="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D TeSys"/>
          <p:cNvSpPr/>
          <p:nvPr/>
        </p:nvSpPr>
        <p:spPr>
          <a:xfrm>
            <a:off x="2505456" y="50292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24230"/>
                </a:solidFill>
                <a:latin typeface="Calibri"/>
              </a:rPr>
              <a:t>TeSys D</a:t>
            </a:r>
          </a:p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024230"/>
                </a:solidFill>
                <a:latin typeface="Calibri"/>
              </a:rPr>
              <a:t>interlocked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941063" y="5138928"/>
            <a:ext cx="429769" cy="9144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41063" y="5687568"/>
            <a:ext cx="429769" cy="91440"/>
          </a:xfrm>
          <a:prstGeom prst="line">
            <a:avLst/>
          </a:prstGeom>
          <a:ln w="38100">
            <a:solidFill>
              <a:srgbClr val="9C7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D load A"/>
          <p:cNvSpPr/>
          <p:nvPr/>
        </p:nvSpPr>
        <p:spPr>
          <a:xfrm>
            <a:off x="4389120" y="5029200"/>
            <a:ext cx="1417320" cy="411480"/>
          </a:xfrm>
          <a:prstGeom prst="roundRect">
            <a:avLst>
              <a:gd name="adj" fmla="val 17777"/>
            </a:avLst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ATV320 pump</a:t>
            </a:r>
          </a:p>
        </p:txBody>
      </p:sp>
      <p:sp>
        <p:nvSpPr>
          <p:cNvPr id="18" name="SLD load B"/>
          <p:cNvSpPr/>
          <p:nvPr/>
        </p:nvSpPr>
        <p:spPr>
          <a:xfrm>
            <a:off x="4389120" y="5486400"/>
            <a:ext cx="1417320" cy="411480"/>
          </a:xfrm>
          <a:prstGeom prst="roundRect">
            <a:avLst>
              <a:gd name="adj" fmla="val 17777"/>
            </a:avLst>
          </a:prstGeom>
          <a:solidFill>
            <a:srgbClr val="7A1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3.8 kW cooler</a:t>
            </a:r>
          </a:p>
        </p:txBody>
      </p:sp>
      <p:sp>
        <p:nvSpPr>
          <p:cNvPr id="19" name="Sequence card"/>
          <p:cNvSpPr/>
          <p:nvPr/>
        </p:nvSpPr>
        <p:spPr>
          <a:xfrm>
            <a:off x="6217920" y="2103120"/>
            <a:ext cx="5422392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12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Five-step zero-current transfer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706624"/>
            <a:ext cx="457200" cy="457200"/>
          </a:xfrm>
          <a:prstGeom prst="ellipse">
            <a:avLst/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63347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Saturation or quota reached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88950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30 cm probe hits 45% field capacity, or the daily entitlement is used.</a:t>
            </a:r>
          </a:p>
        </p:txBody>
      </p:sp>
      <p:sp>
        <p:nvSpPr>
          <p:cNvPr id="24" name="Time chip 1"/>
          <p:cNvSpPr/>
          <p:nvPr/>
        </p:nvSpPr>
        <p:spPr>
          <a:xfrm>
            <a:off x="10469880" y="27432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01A"/>
                </a:solidFill>
                <a:latin typeface="Calibri"/>
              </a:rPr>
              <a:t>T = 0 s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3401568"/>
            <a:ext cx="457200" cy="457200"/>
          </a:xfrm>
          <a:prstGeom prst="ellipse">
            <a:avLst/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328415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Controlled VFD ramp-down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8444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Modbus Reg 8502 takes the ATV320 to 0 Hz over 8 s.</a:t>
            </a:r>
          </a:p>
        </p:txBody>
      </p:sp>
      <p:sp>
        <p:nvSpPr>
          <p:cNvPr id="28" name="Time chip 2"/>
          <p:cNvSpPr/>
          <p:nvPr/>
        </p:nvSpPr>
        <p:spPr>
          <a:xfrm>
            <a:off x="10469880" y="343814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01A"/>
                </a:solidFill>
                <a:latin typeface="Calibri"/>
              </a:rPr>
              <a:t>0 → 8 s</a:t>
            </a:r>
          </a:p>
        </p:txBody>
      </p:sp>
      <p:sp>
        <p:nvSpPr>
          <p:cNvPr id="29" name="Oval 28"/>
          <p:cNvSpPr/>
          <p:nvPr/>
        </p:nvSpPr>
        <p:spPr>
          <a:xfrm>
            <a:off x="6446520" y="4096512"/>
            <a:ext cx="457200" cy="457200"/>
          </a:xfrm>
          <a:prstGeom prst="ellipse">
            <a:avLst/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023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Zero-flow valve closure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2793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Latching solenoid shuts at zero velocity: no water hammer.</a:t>
            </a:r>
          </a:p>
        </p:txBody>
      </p:sp>
      <p:sp>
        <p:nvSpPr>
          <p:cNvPr id="32" name="Time chip 3"/>
          <p:cNvSpPr/>
          <p:nvPr/>
        </p:nvSpPr>
        <p:spPr>
          <a:xfrm>
            <a:off x="10469880" y="41330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01A"/>
                </a:solidFill>
                <a:latin typeface="Calibri"/>
              </a:rPr>
              <a:t>T = 8 s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4791456"/>
            <a:ext cx="457200" cy="457200"/>
          </a:xfrm>
          <a:prstGeom prst="ellipse">
            <a:avLst/>
          </a:prstGeom>
          <a:solidFill>
            <a:srgbClr val="9C7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71830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5 s DC dead-band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497433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Bus capacitors discharge and DC current reaches 0 A.</a:t>
            </a:r>
          </a:p>
        </p:txBody>
      </p:sp>
      <p:sp>
        <p:nvSpPr>
          <p:cNvPr id="36" name="Time chip 4"/>
          <p:cNvSpPr/>
          <p:nvPr/>
        </p:nvSpPr>
        <p:spPr>
          <a:xfrm>
            <a:off x="10469880" y="48280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FF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01A"/>
                </a:solidFill>
                <a:latin typeface="Calibri"/>
              </a:rPr>
              <a:t>8 → 13 s</a:t>
            </a:r>
          </a:p>
        </p:txBody>
      </p:sp>
      <p:sp>
        <p:nvSpPr>
          <p:cNvPr id="37" name="Oval 36"/>
          <p:cNvSpPr/>
          <p:nvPr/>
        </p:nvSpPr>
        <p:spPr>
          <a:xfrm>
            <a:off x="6446520" y="5486400"/>
            <a:ext cx="457200" cy="457200"/>
          </a:xfrm>
          <a:prstGeom prst="ellipse">
            <a:avLst/>
          </a:prstGeom>
          <a:solidFill>
            <a:srgbClr val="7A1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4132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TeSys D transfer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66928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Interlocked contactor energises the 3.8 kW compressor.</a:t>
            </a:r>
          </a:p>
        </p:txBody>
      </p:sp>
      <p:sp>
        <p:nvSpPr>
          <p:cNvPr id="40" name="Time chip 5"/>
          <p:cNvSpPr/>
          <p:nvPr/>
        </p:nvSpPr>
        <p:spPr>
          <a:xfrm>
            <a:off x="10469880" y="55229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0201A"/>
                </a:solidFill>
                <a:latin typeface="Calibri"/>
              </a:rPr>
              <a:t>T = 13.2 s</a:t>
            </a:r>
          </a:p>
        </p:txBody>
      </p:sp>
      <p:sp>
        <p:nvSpPr>
          <p:cNvPr id="41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Break-before-make interlock per IEC 60947-4-1 · Type-2 DC SPD rated 1,000 V DC · LC1D09BD dual interlocked pair, 150 ms break, 5 s dwell. Model: research/08_IMPACT/impact_model.py (1 ha tomato, Nashik, 4.8 kWp PM-KUSUM Component B pump).</a:t>
            </a:r>
          </a:p>
        </p:txBody>
      </p:sp>
      <p:sp>
        <p:nvSpPr>
          <p:cNvPr id="42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THERMAL ENGINEERING  ·  DECENTRALISED COLD CHAIN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Halving Farm-Gate Tomato Spoilage: </a:t>
            </a:r>
            <a:r>
              <a:rPr sz="3200" b="1" i="0">
                <a:solidFill>
                  <a:srgbClr val="7A18D8"/>
                </a:solidFill>
                <a:latin typeface="Calibri"/>
              </a:rPr>
              <a:t>8.37% to 4.00%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A shared 2 MT pre-cooler pulls harvest-hot tomatoes from 32 °C to a safe 12 °C within four hours.</a:t>
            </a:r>
          </a:p>
        </p:txBody>
      </p:sp>
      <p:sp>
        <p:nvSpPr>
          <p:cNvPr id="6" name="Image card"/>
          <p:cNvSpPr/>
          <p:nvPr/>
        </p:nvSpPr>
        <p:spPr>
          <a:xfrm>
            <a:off x="548640" y="2103120"/>
            <a:ext cx="2788920" cy="402336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pic>
        <p:nvPicPr>
          <p:cNvPr id="7" name="Tomato image" descr="Illustrative close-up of three vine tomatoes with water drople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2383089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7607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Illustrative image</a:t>
            </a:r>
          </a:p>
        </p:txBody>
      </p:sp>
      <p:sp>
        <p:nvSpPr>
          <p:cNvPr id="9" name="KPI card 1"/>
          <p:cNvSpPr/>
          <p:nvPr/>
        </p:nvSpPr>
        <p:spPr>
          <a:xfrm>
            <a:off x="3520440" y="2103120"/>
            <a:ext cx="2633472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7A18D8"/>
                </a:solidFill>
                <a:latin typeface="Calibri"/>
              </a:rPr>
              <a:t>1.31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7004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tomatoes saved per ha per year (2.51 t → 1.20 t)</a:t>
            </a:r>
          </a:p>
        </p:txBody>
      </p:sp>
      <p:sp>
        <p:nvSpPr>
          <p:cNvPr id="12" name="KPI card 2"/>
          <p:cNvSpPr/>
          <p:nvPr/>
        </p:nvSpPr>
        <p:spPr>
          <a:xfrm>
            <a:off x="6263640" y="2103120"/>
            <a:ext cx="2633472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D8752"/>
                </a:solidFill>
                <a:latin typeface="Calibri"/>
              </a:rPr>
              <a:t>₹15,732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spoilage saved per year at ₹12/kg</a:t>
            </a:r>
          </a:p>
        </p:txBody>
      </p:sp>
      <p:sp>
        <p:nvSpPr>
          <p:cNvPr id="15" name="KPI card 3"/>
          <p:cNvSpPr/>
          <p:nvPr/>
        </p:nvSpPr>
        <p:spPr>
          <a:xfrm>
            <a:off x="9006840" y="2103120"/>
            <a:ext cx="2633472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7627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087CD"/>
                </a:solidFill>
                <a:latin typeface="Calibri"/>
              </a:rPr>
              <a:t>₹12,000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670048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0201A"/>
                </a:solidFill>
                <a:latin typeface="Calibri"/>
              </a:rPr>
              <a:t>price timing: hold crates for the evening mandi (+₹1–2/kg on 8 t)</a:t>
            </a:r>
          </a:p>
        </p:txBody>
      </p:sp>
      <p:sp>
        <p:nvSpPr>
          <p:cNvPr id="18" name="Spoilage chart card"/>
          <p:cNvSpPr/>
          <p:nvPr/>
        </p:nvSpPr>
        <p:spPr>
          <a:xfrm>
            <a:off x="3520440" y="34290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4930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Farm-stage loss, % of harvest</a:t>
            </a:r>
          </a:p>
        </p:txBody>
      </p:sp>
      <p:graphicFrame>
        <p:nvGraphicFramePr>
          <p:cNvPr id="20" name="Spoilage chart" descr="Column chart: farm-stage tomato loss 8.37% today, 4.00% with pre-cooling"/>
          <p:cNvGraphicFramePr>
            <a:graphicFrameLocks noGrp="1"/>
          </p:cNvGraphicFramePr>
          <p:nvPr/>
        </p:nvGraphicFramePr>
        <p:xfrm>
          <a:off x="3611880" y="3749039"/>
          <a:ext cx="3657600" cy="148132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Physics card"/>
          <p:cNvSpPr/>
          <p:nvPr/>
        </p:nvSpPr>
        <p:spPr>
          <a:xfrm>
            <a:off x="7543800" y="3429000"/>
            <a:ext cx="40965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49300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Thermal physics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3794760"/>
            <a:ext cx="374903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10201A"/>
                </a:solidFill>
                <a:latin typeface="Calibri"/>
              </a:rPr>
              <a:t>41 kWh </a:t>
            </a:r>
            <a:r>
              <a:rPr sz="1250" b="0" i="0">
                <a:solidFill>
                  <a:srgbClr val="10201A"/>
                </a:solidFill>
                <a:latin typeface="Calibri"/>
              </a:rPr>
              <a:t>of heat removed per 2 MT batch (32 → 12 °C).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10201A"/>
                </a:solidFill>
                <a:latin typeface="Calibri"/>
              </a:rPr>
              <a:t>13.7 kWh </a:t>
            </a:r>
            <a:r>
              <a:rPr sz="1250" b="0" i="0">
                <a:solidFill>
                  <a:srgbClr val="10201A"/>
                </a:solidFill>
                <a:latin typeface="Calibri"/>
              </a:rPr>
              <a:t>of electricity at COP 3.0: 3.43 kW for 4 h, within the 4.8 kWp array.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50" b="1" i="0">
                <a:solidFill>
                  <a:srgbClr val="10201A"/>
                </a:solidFill>
                <a:latin typeface="Calibri"/>
              </a:rPr>
              <a:t>12 °C setpoint </a:t>
            </a:r>
            <a:r>
              <a:rPr sz="1250" b="0" i="0">
                <a:solidFill>
                  <a:srgbClr val="10201A"/>
                </a:solidFill>
                <a:latin typeface="Calibri"/>
              </a:rPr>
              <a:t>avoids chilling injury below 10 °C. Phase-change plates hold overnight.</a:t>
            </a:r>
          </a:p>
        </p:txBody>
      </p:sp>
      <p:sp>
        <p:nvSpPr>
          <p:cNvPr id="24" name="Net gain strip"/>
          <p:cNvSpPr/>
          <p:nvPr/>
        </p:nvSpPr>
        <p:spPr>
          <a:xfrm>
            <a:off x="3520440" y="5394960"/>
            <a:ext cx="8119872" cy="731520"/>
          </a:xfrm>
          <a:prstGeom prst="roundRect">
            <a:avLst>
              <a:gd name="adj" fmla="val 125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24230"/>
                </a:solidFill>
                <a:latin typeface="Calibri"/>
              </a:rPr>
              <a:t>Net farmer gain ₹25,332 per year </a:t>
            </a:r>
            <a:r>
              <a:rPr sz="1300" b="0" i="0">
                <a:solidFill>
                  <a:srgbClr val="10201A"/>
                </a:solidFill>
                <a:latin typeface="Calibri"/>
              </a:rPr>
              <a:t>= ₹15,732 + ₹12,000 − ₹2,400 opex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01A"/>
                </a:solidFill>
                <a:latin typeface="Calibri"/>
              </a:rPr>
              <a:t>Embodied emissions avoided: 0.39 t CO₂e per ha per year</a:t>
            </a:r>
          </a:p>
        </p:txBody>
      </p:sp>
      <p:sp>
        <p:nvSpPr>
          <p:cNvPr id="25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Sources: NABCONS 2022 for MoFPI (tomato farm-stage loss 8.37%, total 11.62%) · 12 °C chilling threshold per ICAR-CIPHET guidance · 30 t/ha/yr yield, ₹12/kg farm-gate price are model assumptions. Model: research/08_IMPACT/impact_model.py (1 ha tomato, Nashik, 4.8 kWp PM-KUSUM Component B pump).</a:t>
            </a:r>
          </a:p>
        </p:txBody>
      </p:sp>
      <p:sp>
        <p:nvSpPr>
          <p:cNvPr id="26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COGNITIVE TRUST  ·  DETERMINISTIC VERNACULAR AI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Vernacular Advice Grounded in </a:t>
            </a:r>
            <a:r>
              <a:rPr sz="3200" b="1" i="0">
                <a:solidFill>
                  <a:srgbClr val="0D8752"/>
                </a:solidFill>
                <a:latin typeface="Calibri"/>
              </a:rPr>
              <a:t>Hardware Truth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Spoken Marathi and Hindi advisories on WhatsApp. The AI can read telemetry; it can never switch a contactor.</a:t>
            </a:r>
          </a:p>
        </p:txBody>
      </p:sp>
      <p:sp>
        <p:nvSpPr>
          <p:cNvPr id="6" name="Pipeline card"/>
          <p:cNvSpPr/>
          <p:nvPr/>
        </p:nvSpPr>
        <p:spPr>
          <a:xfrm>
            <a:off x="548640" y="210312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Four-stage trust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51760"/>
            <a:ext cx="420624" cy="420624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Edge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85292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MCU logs FDR moisture, flow and VFD status over Modbus RTU.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291839"/>
            <a:ext cx="420624" cy="420624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4612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Schema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93008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Pydantic checks every JSON record; bad data blocks the model.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931920"/>
            <a:ext cx="420624" cy="420624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8620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Read-only RAG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33087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Copilot sees telemetry and agronomy templates, with no tool access.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571999"/>
            <a:ext cx="420624" cy="420624"/>
          </a:xfrm>
          <a:prstGeom prst="ellipse">
            <a:avLst/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26279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Voice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73167"/>
            <a:ext cx="4526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0201A"/>
                </a:solidFill>
                <a:latin typeface="Calibri"/>
              </a:rPr>
              <a:t>Marathi / Hindi audio delivered as a WhatsApp voice note.</a:t>
            </a:r>
          </a:p>
        </p:txBody>
      </p:sp>
      <p:sp>
        <p:nvSpPr>
          <p:cNvPr id="20" name="JSON snippet"/>
          <p:cNvSpPr/>
          <p:nvPr/>
        </p:nvSpPr>
        <p:spPr>
          <a:xfrm>
            <a:off x="777240" y="513892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FE8B5"/>
                </a:solidFill>
                <a:latin typeface="Consolas"/>
              </a:rPr>
              <a:t>{"vwc_30cm": 0.448, "status": "FC_CUTOFF", "pv_kw": 4.21, "load": "PRE_COOLER"}</a:t>
            </a:r>
          </a:p>
        </p:txBody>
      </p:sp>
      <p:sp>
        <p:nvSpPr>
          <p:cNvPr id="21" name="Safety invariant"/>
          <p:cNvSpPr/>
          <p:nvPr/>
        </p:nvSpPr>
        <p:spPr>
          <a:xfrm>
            <a:off x="777240" y="5641848"/>
            <a:ext cx="4937760" cy="429768"/>
          </a:xfrm>
          <a:prstGeom prst="roundRect">
            <a:avLst>
              <a:gd name="adj" fmla="val 12765"/>
            </a:avLst>
          </a:prstGeom>
          <a:solidFill>
            <a:srgbClr val="FC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40A0A"/>
                </a:solidFill>
                <a:latin typeface="Calibri"/>
              </a:rPr>
              <a:t>Hard invariant: </a:t>
            </a:r>
            <a:r>
              <a:rPr sz="1100" b="0" i="0">
                <a:solidFill>
                  <a:srgbClr val="10201A"/>
                </a:solidFill>
                <a:latin typeface="Calibri"/>
              </a:rPr>
              <a:t>only the FreeRTOS state machine switches power; a manual IP67 switch overrides.</a:t>
            </a:r>
          </a:p>
        </p:txBody>
      </p:sp>
      <p:sp>
        <p:nvSpPr>
          <p:cNvPr id="22" name="Phone card"/>
          <p:cNvSpPr/>
          <p:nvPr/>
        </p:nvSpPr>
        <p:spPr>
          <a:xfrm>
            <a:off x="6172200" y="2103120"/>
            <a:ext cx="5468112" cy="4023360"/>
          </a:xfrm>
          <a:prstGeom prst="roundRect">
            <a:avLst>
              <a:gd name="adj" fmla="val 2727"/>
            </a:avLst>
          </a:prstGeom>
          <a:solidFill>
            <a:srgbClr val="E6EDE8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3" name="Chat header"/>
          <p:cNvSpPr/>
          <p:nvPr/>
        </p:nvSpPr>
        <p:spPr>
          <a:xfrm>
            <a:off x="6172200" y="2103120"/>
            <a:ext cx="5468112" cy="548640"/>
          </a:xfrm>
          <a:prstGeom prst="roundRect">
            <a:avLst>
              <a:gd name="adj" fmla="val 20000"/>
            </a:avLst>
          </a:prstGeom>
          <a:solidFill>
            <a:srgbClr val="0D8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4" name="Chat header fill"/>
          <p:cNvSpPr/>
          <p:nvPr/>
        </p:nvSpPr>
        <p:spPr>
          <a:xfrm>
            <a:off x="6172200" y="2395728"/>
            <a:ext cx="5468112" cy="256032"/>
          </a:xfrm>
          <a:prstGeom prst="rect">
            <a:avLst/>
          </a:prstGeom>
          <a:solidFill>
            <a:srgbClr val="0D8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21945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D8752"/>
                </a:solidFill>
                <a:latin typeface="Calibri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945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Krishi Mitra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6F0DF"/>
                </a:solidFill>
                <a:latin typeface="Calibri"/>
              </a:rPr>
              <a:t>WhatsApp voice advisory · Nashik cluster</a:t>
            </a:r>
          </a:p>
        </p:txBody>
      </p:sp>
      <p:sp>
        <p:nvSpPr>
          <p:cNvPr id="27" name="Voice bubble"/>
          <p:cNvSpPr/>
          <p:nvPr/>
        </p:nvSpPr>
        <p:spPr>
          <a:xfrm>
            <a:off x="6355080" y="2834640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8" name="Marathi message"/>
          <p:cNvSpPr txBox="1"/>
          <p:nvPr/>
        </p:nvSpPr>
        <p:spPr>
          <a:xfrm>
            <a:off x="6537960" y="292608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0201A"/>
                </a:solidFill>
                <a:latin typeface="Nirmala UI"/>
                <a:cs typeface="Nirmala UI"/>
                <a:ea typeface="Nirmala UI"/>
              </a:rPr>
              <a:t>रामभाऊ, तुमच्या टोमॅटोच्या मुळांना पुरेसे पाणी मिळाले आहे (४४.८%). पंप सुरक्षितपणे बंद झाला असून सौर वीज शीतगृहाकडे वळवली आहे.</a:t>
            </a:r>
          </a:p>
        </p:txBody>
      </p:sp>
      <p:sp>
        <p:nvSpPr>
          <p:cNvPr id="29" name="Voice bar"/>
          <p:cNvSpPr/>
          <p:nvPr/>
        </p:nvSpPr>
        <p:spPr>
          <a:xfrm>
            <a:off x="6537960" y="4023360"/>
            <a:ext cx="4480560" cy="384048"/>
          </a:xfrm>
          <a:prstGeom prst="roundRect">
            <a:avLst>
              <a:gd name="adj" fmla="val 5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0" name="Play"/>
          <p:cNvSpPr/>
          <p:nvPr/>
        </p:nvSpPr>
        <p:spPr>
          <a:xfrm rot="5400000">
            <a:off x="6583680" y="4059936"/>
            <a:ext cx="310896" cy="310896"/>
          </a:xfrm>
          <a:prstGeom prst="triangle">
            <a:avLst/>
          </a:prstGeom>
          <a:solidFill>
            <a:srgbClr val="0D8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40880" y="4197096"/>
            <a:ext cx="2834640" cy="45720"/>
          </a:xfrm>
          <a:prstGeom prst="roundRect">
            <a:avLst>
              <a:gd name="adj" fmla="val 40000"/>
            </a:avLst>
          </a:prstGeom>
          <a:solidFill>
            <a:srgbClr val="B9D6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40880" y="4197096"/>
            <a:ext cx="1371600" cy="45720"/>
          </a:xfrm>
          <a:prstGeom prst="roundRect">
            <a:avLst>
              <a:gd name="adj" fmla="val 40000"/>
            </a:avLst>
          </a:prstGeom>
          <a:solidFill>
            <a:srgbClr val="0D8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0" y="407822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F6159"/>
                </a:solidFill>
                <a:latin typeface="Consolas"/>
              </a:rPr>
              <a:t>0:14 / 0:26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4805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F6159"/>
                </a:solidFill>
                <a:latin typeface="Calibri"/>
              </a:rPr>
              <a:t>Translation: “Rambhau, your tomato roots have reached optimal moisture (44.8%). Pumping stopped safely; solar power now runs the cold room.”</a:t>
            </a:r>
          </a:p>
        </p:txBody>
      </p:sp>
      <p:sp>
        <p:nvSpPr>
          <p:cNvPr id="35" name="Reply bubble"/>
          <p:cNvSpPr/>
          <p:nvPr/>
        </p:nvSpPr>
        <p:spPr>
          <a:xfrm>
            <a:off x="7818120" y="5120640"/>
            <a:ext cx="3383280" cy="457200"/>
          </a:xfrm>
          <a:prstGeom prst="roundRect">
            <a:avLst>
              <a:gd name="adj" fmla="val 24000"/>
            </a:avLst>
          </a:prstGeom>
          <a:solidFill>
            <a:srgbClr val="DCF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5120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0201A"/>
                </a:solidFill>
                <a:latin typeface="Nirmala UI"/>
                <a:cs typeface="Nirmala UI"/>
                <a:ea typeface="Nirmala UI"/>
              </a:rPr>
              <a:t>धन्यवाद! उद्या पाणी कधी सुरू होईल?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6692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F6159"/>
                </a:solidFill>
                <a:latin typeface="Calibri"/>
              </a:rPr>
              <a:t>UX artifact: 20-second voice notes at key state changes (pumping done, cold room online); built for zero-literacy use.</a:t>
            </a:r>
          </a:p>
        </p:txBody>
      </p:sp>
      <p:sp>
        <p:nvSpPr>
          <p:cNvPr id="38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AI architecture: deterministic agentic RAG · FastAPI backend · FreeRTOS edge firmware · Pydantic schema. Marathi text to be reviewed by a native speaker before field use.</a:t>
            </a:r>
          </a:p>
        </p:txBody>
      </p:sp>
      <p:sp>
        <p:nvSpPr>
          <p:cNvPr id="39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384048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COMMERCIAL FEASIBILITY  ·  UNIT ECONOMICS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₹50,212 Net Capex per Farm, </a:t>
            </a:r>
            <a:r>
              <a:rPr sz="3200" b="1" i="0">
                <a:solidFill>
                  <a:srgbClr val="0D8752"/>
                </a:solidFill>
                <a:latin typeface="Calibri"/>
              </a:rPr>
              <a:t>Payback in 2.0 Years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A farm's share of a 4-farm pre-cooler after the 35% subsidy. The ₹7,540 edge controller is separate and pays back in 1.5 years.</a:t>
            </a:r>
          </a:p>
        </p:txBody>
      </p:sp>
      <p:sp>
        <p:nvSpPr>
          <p:cNvPr id="6" name="Capex card"/>
          <p:cNvSpPr/>
          <p:nvPr/>
        </p:nvSpPr>
        <p:spPr>
          <a:xfrm>
            <a:off x="548640" y="2103120"/>
            <a:ext cx="56692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Capex waterfall, ₹ thousand per 4-farm cluster</a:t>
            </a:r>
          </a:p>
        </p:txBody>
      </p:sp>
      <p:graphicFrame>
        <p:nvGraphicFramePr>
          <p:cNvPr id="8" name="Capex waterfall" descr="Waterfall: gross 400k, minus shared PV 91k, net 309k, minus 35% subsidy 108k, cluster net 201k, per farm 50.2k rupees"/>
          <p:cNvGraphicFramePr>
            <a:graphicFrameLocks noGrp="1"/>
          </p:cNvGraphicFramePr>
          <p:nvPr/>
        </p:nvGraphicFramePr>
        <p:xfrm>
          <a:off x="640080" y="2514600"/>
          <a:ext cx="548640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Cash flow card"/>
          <p:cNvSpPr/>
          <p:nvPr/>
        </p:nvSpPr>
        <p:spPr>
          <a:xfrm>
            <a:off x="6400800" y="2103120"/>
            <a:ext cx="523951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128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24230"/>
                </a:solidFill>
                <a:latin typeface="Calibri"/>
              </a:rPr>
              <a:t>Cumulative cash flow per farm, ₹ thousand</a:t>
            </a:r>
          </a:p>
        </p:txBody>
      </p:sp>
      <p:graphicFrame>
        <p:nvGraphicFramePr>
          <p:cNvPr id="11" name="Cash flow chart" descr="Line chart of cumulative cash flow from minus 50.2k rupees at day 0 to plus 0.5k at month 24"/>
          <p:cNvGraphicFramePr>
            <a:graphicFrameLocks noGrp="1"/>
          </p:cNvGraphicFramePr>
          <p:nvPr/>
        </p:nvGraphicFramePr>
        <p:xfrm>
          <a:off x="6492240" y="2514600"/>
          <a:ext cx="5074920" cy="26517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ile 1"/>
          <p:cNvSpPr/>
          <p:nvPr/>
        </p:nvSpPr>
        <p:spPr>
          <a:xfrm>
            <a:off x="548640" y="5349240"/>
            <a:ext cx="3611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9496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6159"/>
                </a:solidFill>
                <a:latin typeface="Calibri"/>
              </a:rPr>
              <a:t>Annual farmer gain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D8752"/>
                </a:solidFill>
                <a:latin typeface="Calibri"/>
              </a:rPr>
              <a:t>₹25,332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6418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0201A"/>
                </a:solidFill>
                <a:latin typeface="Calibri"/>
              </a:rPr>
              <a:t>₹15,732 spoilage + ₹12,000 timing − ₹2,400 opex</a:t>
            </a:r>
          </a:p>
        </p:txBody>
      </p:sp>
      <p:sp>
        <p:nvSpPr>
          <p:cNvPr id="16" name="Tile 2"/>
          <p:cNvSpPr/>
          <p:nvPr/>
        </p:nvSpPr>
        <p:spPr>
          <a:xfrm>
            <a:off x="4297679" y="5349240"/>
            <a:ext cx="3611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539496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6159"/>
                </a:solidFill>
                <a:latin typeface="Calibri"/>
              </a:rPr>
              <a:t>Edge controller BoM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087CD"/>
                </a:solidFill>
                <a:latin typeface="Calibri"/>
              </a:rPr>
              <a:t>₹7,540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4999" y="56418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0201A"/>
                </a:solidFill>
                <a:latin typeface="Calibri"/>
              </a:rPr>
              <a:t>Pays back in 1.5 yr; ≈1.9 yr combined with the cooler share</a:t>
            </a:r>
          </a:p>
        </p:txBody>
      </p:sp>
      <p:sp>
        <p:nvSpPr>
          <p:cNvPr id="20" name="Tile 3"/>
          <p:cNvSpPr/>
          <p:nvPr/>
        </p:nvSpPr>
        <p:spPr>
          <a:xfrm>
            <a:off x="8046719" y="5349240"/>
            <a:ext cx="3611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5394960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6159"/>
                </a:solidFill>
                <a:latin typeface="Calibri"/>
              </a:rPr>
              <a:t>Tier B FPO hub (5 MT)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A18D8"/>
                </a:solidFill>
                <a:latin typeface="Calibri"/>
              </a:rPr>
              <a:t>4.2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5641848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0201A"/>
                </a:solidFill>
                <a:latin typeface="Calibri"/>
              </a:rPr>
              <a:t>Own array, leasing: ₹780k net capex, ₹184k/yr net revenue</a:t>
            </a:r>
          </a:p>
        </p:txBody>
      </p:sp>
      <p:sp>
        <p:nvSpPr>
          <p:cNvPr id="24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Assumes 35% MIDH/AIF support (3.0 yr payback without it), ₹35,000/kWp PV, 30 t/ha yield, ₹12/kg. Excludes drip hardware (assumed in place) and the host farm's PV. Controller benefit (~₹5,000/yr) is not in the ₹25,332. Model: research/08_IMPACT/impact_model.py (1 ha tomato, Nashik, 4.8 kWp PM-KUSUM Component B pump).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D8752"/>
                </a:solidFill>
                <a:latin typeface="Calibri"/>
              </a:rPr>
              <a:t>DEPLOYMENT  ·  DE-RISKED SCALING</a:t>
            </a:r>
          </a:p>
        </p:txBody>
      </p:sp>
      <p:pic>
        <p:nvPicPr>
          <p:cNvPr id="3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24230"/>
                </a:solidFill>
                <a:latin typeface="Calibri"/>
              </a:rPr>
              <a:t>From Digital Twin to a </a:t>
            </a:r>
            <a:r>
              <a:rPr sz="3200" b="1" i="0">
                <a:solidFill>
                  <a:srgbClr val="0D8752"/>
                </a:solidFill>
                <a:latin typeface="Calibri"/>
              </a:rPr>
              <a:t>250-Farm Pilot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F6159"/>
                </a:solidFill>
                <a:latin typeface="Calibri"/>
              </a:rPr>
              <a:t>Each phase has an exit gate. Targets below are plans, not results.</a:t>
            </a:r>
          </a:p>
        </p:txBody>
      </p:sp>
      <p:sp>
        <p:nvSpPr>
          <p:cNvPr id="6" name="PHASE 1 chevron"/>
          <p:cNvSpPr/>
          <p:nvPr/>
        </p:nvSpPr>
        <p:spPr>
          <a:xfrm>
            <a:off x="548640" y="2057400"/>
            <a:ext cx="2743200" cy="457200"/>
          </a:xfrm>
          <a:prstGeom prst="homePlate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01A"/>
                </a:solidFill>
                <a:latin typeface="Calibri"/>
              </a:rPr>
              <a:t>PHASE 1  ·  Q4 2026</a:t>
            </a:r>
          </a:p>
        </p:txBody>
      </p:sp>
      <p:sp>
        <p:nvSpPr>
          <p:cNvPr id="7" name="PHASE 1 card"/>
          <p:cNvSpPr/>
          <p:nvPr/>
        </p:nvSpPr>
        <p:spPr>
          <a:xfrm>
            <a:off x="548640" y="2651760"/>
            <a:ext cx="2679192" cy="2788920"/>
          </a:xfrm>
          <a:prstGeom prst="roundRect">
            <a:avLst>
              <a:gd name="adj" fmla="val 40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D8752"/>
                </a:solidFill>
                <a:latin typeface="Calibri"/>
              </a:rPr>
              <a:t>0 physical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56432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365-day energy, water and thermal model that reconciles to zero discrepancy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Modbus state machine emulating ATV320 (Reg 8501 / 8502)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Marathi / Hindi advisory prototype</a:t>
            </a:r>
          </a:p>
        </p:txBody>
      </p:sp>
      <p:sp>
        <p:nvSpPr>
          <p:cNvPr id="11" name="PHASE 1 exit gate"/>
          <p:cNvSpPr/>
          <p:nvPr/>
        </p:nvSpPr>
        <p:spPr>
          <a:xfrm>
            <a:off x="658368" y="4846320"/>
            <a:ext cx="2459736" cy="502920"/>
          </a:xfrm>
          <a:prstGeom prst="roundRect">
            <a:avLst>
              <a:gd name="adj" fmla="val 10909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4230"/>
                </a:solidFill>
                <a:latin typeface="Calibri"/>
              </a:rPr>
              <a:t>Exit: mass and energy balances reconcile</a:t>
            </a:r>
          </a:p>
        </p:txBody>
      </p:sp>
      <p:sp>
        <p:nvSpPr>
          <p:cNvPr id="12" name="PHASE 2 chevron"/>
          <p:cNvSpPr/>
          <p:nvPr/>
        </p:nvSpPr>
        <p:spPr>
          <a:xfrm>
            <a:off x="3355848" y="2057400"/>
            <a:ext cx="2743200" cy="457200"/>
          </a:xfrm>
          <a:prstGeom prst="homePlate">
            <a:avLst/>
          </a:prstGeom>
          <a:solidFill>
            <a:srgbClr val="008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2  ·  Q1–Q2 2027</a:t>
            </a:r>
          </a:p>
        </p:txBody>
      </p:sp>
      <p:sp>
        <p:nvSpPr>
          <p:cNvPr id="13" name="PHASE 2 card"/>
          <p:cNvSpPr/>
          <p:nvPr/>
        </p:nvSpPr>
        <p:spPr>
          <a:xfrm>
            <a:off x="3355848" y="2651760"/>
            <a:ext cx="2679192" cy="2788920"/>
          </a:xfrm>
          <a:prstGeom prst="roundRect">
            <a:avLst>
              <a:gd name="adj" fmla="val 40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743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Hardware-in-loop bench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30175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87CD"/>
                </a:solidFill>
                <a:latin typeface="Calibri"/>
              </a:rPr>
              <a:t>1 testbench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456432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ESP32-S3 with ATV320 and motor dynamometer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500 DC transfer cycles with the 5 s dead-band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Type-2 DC SPD surge endurance at 1,000 V DC</a:t>
            </a:r>
          </a:p>
        </p:txBody>
      </p:sp>
      <p:sp>
        <p:nvSpPr>
          <p:cNvPr id="17" name="PHASE 2 exit gate"/>
          <p:cNvSpPr/>
          <p:nvPr/>
        </p:nvSpPr>
        <p:spPr>
          <a:xfrm>
            <a:off x="3465576" y="4846320"/>
            <a:ext cx="2459736" cy="502920"/>
          </a:xfrm>
          <a:prstGeom prst="roundRect">
            <a:avLst>
              <a:gd name="adj" fmla="val 10909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4230"/>
                </a:solidFill>
                <a:latin typeface="Calibri"/>
              </a:rPr>
              <a:t>Exit: 500 faultless transfers, no drive trip</a:t>
            </a:r>
          </a:p>
        </p:txBody>
      </p:sp>
      <p:sp>
        <p:nvSpPr>
          <p:cNvPr id="18" name="PHASE 3 chevron"/>
          <p:cNvSpPr/>
          <p:nvPr/>
        </p:nvSpPr>
        <p:spPr>
          <a:xfrm>
            <a:off x="6163055" y="2057400"/>
            <a:ext cx="2743200" cy="457200"/>
          </a:xfrm>
          <a:prstGeom prst="homePlate">
            <a:avLst/>
          </a:prstGeom>
          <a:solidFill>
            <a:srgbClr val="C9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01A"/>
                </a:solidFill>
                <a:latin typeface="Calibri"/>
              </a:rPr>
              <a:t>PHASE 3  ·  Q3–Q4 2027</a:t>
            </a:r>
          </a:p>
        </p:txBody>
      </p:sp>
      <p:sp>
        <p:nvSpPr>
          <p:cNvPr id="19" name="PHASE 3 card"/>
          <p:cNvSpPr/>
          <p:nvPr/>
        </p:nvSpPr>
        <p:spPr>
          <a:xfrm>
            <a:off x="6163055" y="2651760"/>
            <a:ext cx="2679192" cy="2788920"/>
          </a:xfrm>
          <a:prstGeom prst="roundRect">
            <a:avLst>
              <a:gd name="adj" fmla="val 40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743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Nashik FPO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0175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9A100"/>
                </a:solidFill>
                <a:latin typeface="Calibri"/>
              </a:rPr>
              <a:t>20 farms · 5 clusters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456432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Real tomato harvests with continuous FDR monitoring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One shared pre-cooler per 4-farm cluster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Daily WhatsApp voice notes to farmers</a:t>
            </a:r>
          </a:p>
        </p:txBody>
      </p:sp>
      <p:sp>
        <p:nvSpPr>
          <p:cNvPr id="23" name="PHASE 3 exit gate"/>
          <p:cNvSpPr/>
          <p:nvPr/>
        </p:nvSpPr>
        <p:spPr>
          <a:xfrm>
            <a:off x="6272783" y="4846320"/>
            <a:ext cx="2459736" cy="502920"/>
          </a:xfrm>
          <a:prstGeom prst="roundRect">
            <a:avLst>
              <a:gd name="adj" fmla="val 10909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4230"/>
                </a:solidFill>
                <a:latin typeface="Calibri"/>
              </a:rPr>
              <a:t>Exit: &gt;35% water saving, ≥95% pre-cooler uptime over 2 seasons</a:t>
            </a:r>
          </a:p>
        </p:txBody>
      </p:sp>
      <p:sp>
        <p:nvSpPr>
          <p:cNvPr id="24" name="PHASE 4 chevron"/>
          <p:cNvSpPr/>
          <p:nvPr/>
        </p:nvSpPr>
        <p:spPr>
          <a:xfrm>
            <a:off x="8970263" y="2057400"/>
            <a:ext cx="2743200" cy="457200"/>
          </a:xfrm>
          <a:prstGeom prst="homePlate">
            <a:avLst/>
          </a:prstGeom>
          <a:solidFill>
            <a:srgbClr val="7A1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PHASE 4  ·  2028</a:t>
            </a:r>
          </a:p>
        </p:txBody>
      </p:sp>
      <p:sp>
        <p:nvSpPr>
          <p:cNvPr id="25" name="PHASE 4 card"/>
          <p:cNvSpPr/>
          <p:nvPr/>
        </p:nvSpPr>
        <p:spPr>
          <a:xfrm>
            <a:off x="8970263" y="2651760"/>
            <a:ext cx="2679192" cy="2788920"/>
          </a:xfrm>
          <a:prstGeom prst="roundRect">
            <a:avLst>
              <a:gd name="adj" fmla="val 4095"/>
            </a:avLst>
          </a:prstGeom>
          <a:solidFill>
            <a:srgbClr val="FFFFFF"/>
          </a:solidFill>
          <a:ln w="9525">
            <a:solidFill>
              <a:srgbClr val="D5E0D9"/>
            </a:solidFill>
          </a:ln>
          <a:effectLst>
            <a:outerShdw blurRad="76200" dist="25400" dir="5400000" algn="t" rotWithShape="0">
              <a:srgbClr val="0B2A22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274320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24230"/>
                </a:solidFill>
                <a:latin typeface="Calibri"/>
              </a:rPr>
              <a:t>Commercial expansion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01752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7A18D8"/>
                </a:solidFill>
                <a:latin typeface="Calibri"/>
              </a:rPr>
              <a:t>250 farms · 5 FPOs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56432"/>
            <a:ext cx="2423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Factory-assembled DIN-rail retrofit kits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Urja Mitra: local ITI-trained technicians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50" b="1" i="0">
                <a:solidFill>
                  <a:srgbClr val="10201A"/>
                </a:solidFill>
                <a:latin typeface="Calibri"/>
              </a:rPr>
              <a:t>• </a:t>
            </a:r>
            <a:r>
              <a:rPr sz="1150" b="0" i="0">
                <a:solidFill>
                  <a:srgbClr val="10201A"/>
                </a:solidFill>
                <a:latin typeface="Calibri"/>
              </a:rPr>
              <a:t>Catalogue option with Schneider rural EPCs (proposed)</a:t>
            </a:r>
          </a:p>
        </p:txBody>
      </p:sp>
      <p:sp>
        <p:nvSpPr>
          <p:cNvPr id="29" name="PHASE 4 exit gate"/>
          <p:cNvSpPr/>
          <p:nvPr/>
        </p:nvSpPr>
        <p:spPr>
          <a:xfrm>
            <a:off x="9079991" y="4846320"/>
            <a:ext cx="2459736" cy="502920"/>
          </a:xfrm>
          <a:prstGeom prst="roundRect">
            <a:avLst>
              <a:gd name="adj" fmla="val 10909"/>
            </a:avLst>
          </a:prstGeom>
          <a:solidFill>
            <a:srgbClr val="E4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4230"/>
                </a:solidFill>
                <a:latin typeface="Calibri"/>
              </a:rPr>
              <a:t>Exit: break-even on 5 FPO contracts</a:t>
            </a:r>
          </a:p>
        </p:txBody>
      </p:sp>
      <p:sp>
        <p:nvSpPr>
          <p:cNvPr id="30" name="Enablers strip"/>
          <p:cNvSpPr/>
          <p:nvPr/>
        </p:nvSpPr>
        <p:spPr>
          <a:xfrm>
            <a:off x="548640" y="5577840"/>
            <a:ext cx="11091672" cy="594360"/>
          </a:xfrm>
          <a:prstGeom prst="roundRect">
            <a:avLst>
              <a:gd name="adj" fmla="val 15384"/>
            </a:avLst>
          </a:prstGeom>
          <a:solidFill>
            <a:srgbClr val="024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DCD58"/>
                </a:solidFill>
                <a:latin typeface="Calibri"/>
              </a:rPr>
              <a:t>Enablers 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PM-KUSUM Component B (≈10.06 lakh pumps installed, 4.67 lakh in Maharashtra) · Atal Bhujal Yojana · MIDH / AIF 35%.  </a:t>
            </a:r>
            <a:r>
              <a:rPr sz="1150" b="1" i="0">
                <a:solidFill>
                  <a:srgbClr val="FFCE00"/>
                </a:solidFill>
                <a:latin typeface="Calibri"/>
              </a:rPr>
              <a:t>Proposed partners (not yet confirmed): 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Sahyadri Farmers Producer Co., Nashik; Schneider Electric rural EPC channel.</a:t>
            </a:r>
          </a:p>
        </p:txBody>
      </p:sp>
      <p:sp>
        <p:nvSpPr>
          <p:cNvPr id="31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Installed-pump counts: MNRE PM-KUSUM progress reports (31 Jan 2026; Maharashtra figure 30 Nov 2025), as reported. Phase dates and exit gates are targets.</a:t>
            </a:r>
          </a:p>
        </p:txBody>
      </p:sp>
      <p:sp>
        <p:nvSpPr>
          <p:cNvPr id="32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6159"/>
                </a:solidFill>
                <a:latin typeface="Calibri"/>
              </a:rPr>
              <a:t>AgroStruxure™  ·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42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/>
          <p:nvPr/>
        </p:nvSpPr>
        <p:spPr>
          <a:xfrm>
            <a:off x="548640" y="384048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EXECUTIVE SYNTHESIS  ·  YUVA YODHA 2026</a:t>
            </a:r>
          </a:p>
        </p:txBody>
      </p:sp>
      <p:sp>
        <p:nvSpPr>
          <p:cNvPr id="3" name="Logo plate"/>
          <p:cNvSpPr/>
          <p:nvPr/>
        </p:nvSpPr>
        <p:spPr>
          <a:xfrm>
            <a:off x="10533888" y="310896"/>
            <a:ext cx="1106424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pic>
        <p:nvPicPr>
          <p:cNvPr id="4" name="Schneider logo" descr="Schneider Electric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47472"/>
            <a:ext cx="996696" cy="411406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548640" y="786384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One Solar Pump. </a:t>
            </a:r>
            <a:r>
              <a:rPr sz="3200" b="1" i="0">
                <a:solidFill>
                  <a:srgbClr val="3DCD58"/>
                </a:solidFill>
                <a:latin typeface="Calibri"/>
              </a:rPr>
              <a:t>Four Measured Outcomes.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1389888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FD8CB"/>
                </a:solidFill>
                <a:latin typeface="Calibri"/>
              </a:rPr>
              <a:t>A connected retrofit layer for Altivar Solar drives and TeSys switchgear that turns standalone pumps into community microgrids.</a:t>
            </a:r>
          </a:p>
        </p:txBody>
      </p:sp>
      <p:sp>
        <p:nvSpPr>
          <p:cNvPr id="7" name="Outcome 1"/>
          <p:cNvSpPr/>
          <p:nvPr/>
        </p:nvSpPr>
        <p:spPr>
          <a:xfrm>
            <a:off x="548640" y="21488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3DCD58"/>
                </a:solidFill>
                <a:latin typeface="Calibri"/>
              </a:rPr>
              <a:t>41.2%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LESS GROUNDWATER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FD8CB"/>
                </a:solidFill>
                <a:latin typeface="Calibri"/>
              </a:rPr>
              <a:t>7,000 m³ per ha per year; full crop requirement still met</a:t>
            </a:r>
          </a:p>
        </p:txBody>
      </p:sp>
      <p:sp>
        <p:nvSpPr>
          <p:cNvPr id="11" name="Outcome 2"/>
          <p:cNvSpPr/>
          <p:nvPr/>
        </p:nvSpPr>
        <p:spPr>
          <a:xfrm>
            <a:off x="3355848" y="21488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2860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CE00"/>
                </a:solidFill>
                <a:latin typeface="Calibri"/>
              </a:rPr>
              <a:t>4,137 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IDLE SOLAR UNLOCKED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2004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FD8CB"/>
                </a:solidFill>
                <a:latin typeface="Calibri"/>
              </a:rPr>
              <a:t>per farm per year once water is right-sized; cooling a 4-farm cluster uses 1,062 kWh</a:t>
            </a:r>
          </a:p>
        </p:txBody>
      </p:sp>
      <p:sp>
        <p:nvSpPr>
          <p:cNvPr id="15" name="Outcome 3"/>
          <p:cNvSpPr/>
          <p:nvPr/>
        </p:nvSpPr>
        <p:spPr>
          <a:xfrm>
            <a:off x="6163055" y="21488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860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9A3F5"/>
                </a:solidFill>
                <a:latin typeface="Calibri"/>
              </a:rPr>
              <a:t>1.31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TOMATOES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2004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FD8CB"/>
                </a:solidFill>
                <a:latin typeface="Calibri"/>
              </a:rPr>
              <a:t>per ha per year; farm-stage loss 8.37% → 4.00%</a:t>
            </a:r>
          </a:p>
        </p:txBody>
      </p:sp>
      <p:sp>
        <p:nvSpPr>
          <p:cNvPr id="19" name="Outcome 4"/>
          <p:cNvSpPr/>
          <p:nvPr/>
        </p:nvSpPr>
        <p:spPr>
          <a:xfrm>
            <a:off x="8970263" y="21488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3" y="228600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FD0F7"/>
                </a:solidFill>
                <a:latin typeface="Calibri"/>
              </a:rPr>
              <a:t>2.0 years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3" y="2852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CAPITAL PAYBACK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3200400"/>
            <a:ext cx="2331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FD8CB"/>
                </a:solidFill>
                <a:latin typeface="Calibri"/>
              </a:rPr>
              <a:t>₹50,212 net capex per farm; ₹25,332 net gain per year</a:t>
            </a:r>
          </a:p>
        </p:txBody>
      </p:sp>
      <p:sp>
        <p:nvSpPr>
          <p:cNvPr id="23" name="Sustainability strip"/>
          <p:cNvSpPr/>
          <p:nvPr/>
        </p:nvSpPr>
        <p:spPr>
          <a:xfrm>
            <a:off x="548640" y="4434840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065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CD58"/>
                </a:solidFill>
                <a:latin typeface="Calibri"/>
              </a:rPr>
              <a:t>Sustainability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0.39 t CO₂e per ha per year (embodied emissions of avoided spoilage) · 7,000 m³ groundwater conserved · no diesel, no battery</a:t>
            </a:r>
          </a:p>
        </p:txBody>
      </p:sp>
      <p:sp>
        <p:nvSpPr>
          <p:cNvPr id="24" name="Team 1"/>
          <p:cNvSpPr/>
          <p:nvPr/>
        </p:nvSpPr>
        <p:spPr>
          <a:xfrm>
            <a:off x="548640" y="502920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04382A"/>
          </a:solidFill>
          <a:ln w="9525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Sanskar Tiwari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Embedded firmware and lead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FD8CB"/>
                </a:solidFill>
                <a:latin typeface="Calibri"/>
              </a:rPr>
              <a:t>FreeRTOS state machine, Modbus RTU, CiA402 drive control</a:t>
            </a:r>
          </a:p>
        </p:txBody>
      </p:sp>
      <p:sp>
        <p:nvSpPr>
          <p:cNvPr id="25" name="Team 2"/>
          <p:cNvSpPr/>
          <p:nvPr/>
        </p:nvSpPr>
        <p:spPr>
          <a:xfrm>
            <a:off x="3355848" y="502920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04382A"/>
          </a:solidFill>
          <a:ln w="9525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Shambhavi Patil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Geospatial intelligence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FD8CB"/>
                </a:solidFill>
                <a:latin typeface="Calibri"/>
              </a:rPr>
              <a:t>Sentinel-2 NDVI/NDWI, dynamic FAO-56 Kc curves, aquifer balance</a:t>
            </a:r>
          </a:p>
        </p:txBody>
      </p:sp>
      <p:sp>
        <p:nvSpPr>
          <p:cNvPr id="26" name="Team 3"/>
          <p:cNvSpPr/>
          <p:nvPr/>
        </p:nvSpPr>
        <p:spPr>
          <a:xfrm>
            <a:off x="6163055" y="502920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04382A"/>
          </a:solidFill>
          <a:ln w="9525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Kanishka Salgude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Electrical systems and VFD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FD8CB"/>
                </a:solidFill>
                <a:latin typeface="Calibri"/>
              </a:rPr>
              <a:t>Altivar ATV320 configuration, TeSys D interlocking, DC routing</a:t>
            </a:r>
          </a:p>
        </p:txBody>
      </p:sp>
      <p:sp>
        <p:nvSpPr>
          <p:cNvPr id="27" name="Team 4"/>
          <p:cNvSpPr/>
          <p:nvPr/>
        </p:nvSpPr>
        <p:spPr>
          <a:xfrm>
            <a:off x="8970263" y="5029200"/>
            <a:ext cx="2679192" cy="1097280"/>
          </a:xfrm>
          <a:prstGeom prst="roundRect">
            <a:avLst>
              <a:gd name="adj" fmla="val 8333"/>
            </a:avLst>
          </a:prstGeom>
          <a:solidFill>
            <a:srgbClr val="04382A"/>
          </a:solidFill>
          <a:ln w="9525">
            <a:solidFill>
              <a:srgbClr val="0D8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Chaitanya Ranade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CD58"/>
                </a:solidFill>
                <a:latin typeface="Calibri"/>
              </a:rPr>
              <a:t>Product and agronomy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BFD8CB"/>
                </a:solidFill>
                <a:latin typeface="Calibri"/>
              </a:rPr>
              <a:t>FPO cluster economics, MIDH/AIF subsidies, vernacular WhatsApp UX</a:t>
            </a:r>
          </a:p>
        </p:txBody>
      </p:sp>
      <p:sp>
        <p:nvSpPr>
          <p:cNvPr id="28" name="Sources"/>
          <p:cNvSpPr txBox="1"/>
          <p:nvPr/>
        </p:nvSpPr>
        <p:spPr>
          <a:xfrm>
            <a:off x="548640" y="629107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Schneider Electric synergies: Altivar Solar OEM pre-installation · EcoStruxure microgrid edge integration · SE Ventures cleantech scale.  Challenge 01: Sustainable Agriculture.  Model: research/08_IMPACT/impact_model.py (1 ha tomato, Nashik, 4.8 kWp PM-KUSUM Component B pump).</a:t>
            </a:r>
          </a:p>
        </p:txBody>
      </p:sp>
      <p:sp>
        <p:nvSpPr>
          <p:cNvPr id="29" name="Slide number"/>
          <p:cNvSpPr txBox="1"/>
          <p:nvPr/>
        </p:nvSpPr>
        <p:spPr>
          <a:xfrm>
            <a:off x="10241280" y="6291072"/>
            <a:ext cx="1399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BFD8CB"/>
                </a:solidFill>
                <a:latin typeface="Calibri"/>
              </a:rPr>
              <a:t>AgroStruxure™  ·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AgroStruxure — Yuva Yodha Energy Tech Hackathon 2026 (Challenge 01)</dc:title>
  <dc:subject>Solar-synchronised agri-energy microgrid and precision irrigation</dc:subject>
  <dc:creator>Team AgroStruxure</dc:creator>
  <cp:keywords>PM-KUSUM, FAO-56, Altivar ATV320, TeSys D, EcoStruxure, cold chain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