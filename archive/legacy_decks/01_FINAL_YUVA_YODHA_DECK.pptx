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ENERGY TECH HACKATHON 2026</a:t>
            </a:r>
            <a:r>
              <a:rPr b="0">
                <a:solidFill>
                  <a:srgbClr val="9FA0A4"/>
                </a:solidFill>
              </a:rPr>
              <a:t>  |  Track: Challenge 01 — Sustainable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CGWB Assessment (2023) · NABCONS / MoFPI Post-Harvest Study (2022) · impact_model.py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01 /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97280"/>
            <a:ext cx="594360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OFF-GRID SOLAR AGRI-ENERGY MICROGRID</a:t>
            </a:r>
          </a:p>
          <a:p>
            <a:pPr>
              <a:spcBef>
                <a:spcPts val="600"/>
              </a:spcBef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AgroStruxure™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Solar-Synchronized Agri-Energy Microgrid &amp; Closed-Loop Precision Irrigation</a:t>
            </a:r>
          </a:p>
          <a:p>
            <a:pPr>
              <a:spcBef>
                <a:spcPts val="12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Monetizing agricultural water conservation by coupling PM-KUSUM Component B solar pump arrays with on-farm pre-cooling—turning unpumped groundwater into perishable shelf life.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97680"/>
            <a:ext cx="1389888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389888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DCD58"/>
                </a:solidFill>
                <a:latin typeface="Trebuchet MS"/>
              </a:defRPr>
            </a:pPr>
            <a:r>
              <a:t>41.2%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WATER SAVED</a:t>
            </a:r>
          </a:p>
          <a:p>
            <a:pPr>
              <a:spcBef>
                <a:spcPts val="400"/>
              </a:spcBef>
              <a:defRPr sz="850">
                <a:solidFill>
                  <a:srgbClr val="626469"/>
                </a:solidFill>
                <a:latin typeface="Segoe UI"/>
              </a:defRPr>
            </a:pPr>
            <a:r>
              <a:t>7,000 m³/ha/yr conserved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48256" y="4297680"/>
            <a:ext cx="1389888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48256" y="4389120"/>
            <a:ext cx="1389888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87CD"/>
                </a:solidFill>
                <a:latin typeface="Trebuchet MS"/>
              </a:defRPr>
            </a:pPr>
            <a:r>
              <a:t>1,696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KWH FREED</a:t>
            </a:r>
          </a:p>
          <a:p>
            <a:pPr>
              <a:spcBef>
                <a:spcPts val="400"/>
              </a:spcBef>
              <a:defRPr sz="850">
                <a:solidFill>
                  <a:srgbClr val="626469"/>
                </a:solidFill>
                <a:latin typeface="Segoe UI"/>
              </a:defRPr>
            </a:pPr>
            <a:r>
              <a:t>Pumping power freed/yr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4297680"/>
            <a:ext cx="1389888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47872" y="4389120"/>
            <a:ext cx="1389888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574FF"/>
                </a:solidFill>
                <a:latin typeface="Trebuchet MS"/>
              </a:defRPr>
            </a:pPr>
            <a:r>
              <a:t>1.31 t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PRODUCE SAVED</a:t>
            </a:r>
          </a:p>
          <a:p>
            <a:pPr>
              <a:spcBef>
                <a:spcPts val="400"/>
              </a:spcBef>
              <a:defRPr sz="850">
                <a:solidFill>
                  <a:srgbClr val="626469"/>
                </a:solidFill>
                <a:latin typeface="Segoe UI"/>
              </a:defRPr>
            </a:pPr>
            <a:r>
              <a:t>Farm-gate heat eliminated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4297680"/>
            <a:ext cx="1389888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4389120"/>
            <a:ext cx="1389888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CE00"/>
                </a:solidFill>
                <a:latin typeface="Trebuchet MS"/>
              </a:defRPr>
            </a:pPr>
            <a:r>
              <a:t>2.0 Yrs</a:t>
            </a:r>
          </a:p>
          <a:p>
            <a:pPr>
              <a:spcBef>
                <a:spcPts val="400"/>
              </a:spcBef>
              <a:defRPr sz="900" b="1">
                <a:solidFill>
                  <a:srgbClr val="FFFFFF"/>
                </a:solidFill>
                <a:latin typeface="Segoe UI"/>
              </a:defRPr>
            </a:pPr>
            <a:r>
              <a:t>CLUSTER PAYBACK</a:t>
            </a:r>
          </a:p>
          <a:p>
            <a:pPr>
              <a:spcBef>
                <a:spcPts val="400"/>
              </a:spcBef>
              <a:defRPr sz="850">
                <a:solidFill>
                  <a:srgbClr val="626469"/>
                </a:solidFill>
                <a:latin typeface="Segoe UI"/>
              </a:defRPr>
            </a:pPr>
            <a:r>
              <a:t>2 crop seasons (Tier A)</a:t>
            </a:r>
          </a:p>
        </p:txBody>
      </p:sp>
      <p:pic>
        <p:nvPicPr>
          <p:cNvPr id="17" name="Picture 16" descr="solar_panels_farm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97280"/>
            <a:ext cx="4937760" cy="39319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75120" y="5120640"/>
            <a:ext cx="4937760" cy="91440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5166360"/>
            <a:ext cx="4754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DCD58"/>
                </a:solidFill>
                <a:latin typeface="Consolas"/>
              </a:defRPr>
            </a:pPr>
            <a:r>
              <a:t>● SCHNEIDER ECOSTRUXURE TELEMETRY | NODE ID: MH-NSK-042</a:t>
            </a:r>
          </a:p>
          <a:p>
            <a:pPr>
              <a:spcBef>
                <a:spcPts val="300"/>
              </a:spcBef>
              <a:defRPr sz="900">
                <a:solidFill>
                  <a:srgbClr val="FFFFFF"/>
                </a:solidFill>
                <a:latin typeface="Consolas"/>
              </a:defRPr>
            </a:pPr>
            <a:r>
              <a:t>DC Bus: 520V DC  |  Drive Speed: 44.2 Hz  |  Root Moisture: 38.4%  |  State: PV_SHARED_TIME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PROBLEM DEFINITION</a:t>
            </a:r>
            <a:r>
              <a:rPr b="0">
                <a:solidFill>
                  <a:srgbClr val="9FA0A4"/>
                </a:solidFill>
              </a:rPr>
              <a:t>  |  Structural Bottlenecks in Indian Smallholder Agriculture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Dual Agricultural Crisis: Aquifer Depletion &amp; Farm-Gate Spoilage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India extracts more groundwater than China and the US combined—while ₹1.53 Lakh Crore of food rots at the farm gate.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CGWB Dynamic Ground Water Assessment (2023) · CEA Energy Statistics (2024) · NABCONS / MoFPI (2022)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394960" cy="4389120"/>
          </a:xfrm>
          <a:prstGeom prst="roundRect">
            <a:avLst/>
          </a:prstGeom>
          <a:solidFill>
            <a:srgbClr val="151A1C"/>
          </a:solidFill>
          <a:ln w="19050">
            <a:solidFill>
              <a:srgbClr val="DC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C0A0A"/>
                </a:solidFill>
                <a:latin typeface="Segoe UI"/>
              </a:defRPr>
            </a:pPr>
            <a:r>
              <a:t>CRISIS 1: AQUIFER EXHAUSTION</a:t>
            </a:r>
          </a:p>
          <a:p>
            <a:pPr>
              <a:spcBef>
                <a:spcPts val="400"/>
              </a:spcBef>
              <a:defRPr sz="3600" b="1">
                <a:solidFill>
                  <a:srgbClr val="DC0A0A"/>
                </a:solidFill>
                <a:latin typeface="Trebuchet MS"/>
              </a:defRPr>
            </a:pPr>
            <a:r>
              <a:t>245 BCM / Year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Total Annual National Groundwater Extraction (CGWB 2023)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87% Dedicated to Agriculture: Irrigation extracts 213 BCM/year, dwarfing domestic (11%) and industrial (2%) usage.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1,114 Assessment Units Over-Exploited: Extraction exceeds annual replenishable recharge across key agrarian states.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255,000 GWh Power Drain: Agricultural pumping consumes 16.53% of all Indian electricity (CEA 2024).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Pumping Fleet Scale: 21.5M electric pumps, 8.5M diesel pumps, and 10.9L standalone solar pumps (PM-KUSUM).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94960" cy="4389120"/>
          </a:xfrm>
          <a:prstGeom prst="roundRect">
            <a:avLst/>
          </a:prstGeom>
          <a:solidFill>
            <a:srgbClr val="151A1C"/>
          </a:solidFill>
          <a:ln w="19050">
            <a:solidFill>
              <a:srgbClr val="FFC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E00"/>
                </a:solidFill>
                <a:latin typeface="Segoe UI"/>
              </a:defRPr>
            </a:pPr>
            <a:r>
              <a:t>CRISIS 2: PERISHABLE VALUE COLLAPSE</a:t>
            </a:r>
          </a:p>
          <a:p>
            <a:pPr>
              <a:spcBef>
                <a:spcPts val="400"/>
              </a:spcBef>
              <a:defRPr sz="3600" b="1">
                <a:solidFill>
                  <a:srgbClr val="FFCE00"/>
                </a:solidFill>
                <a:latin typeface="Trebuchet MS"/>
              </a:defRPr>
            </a:pPr>
            <a:r>
              <a:t>₹1.53 Lakh Crore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Annual Post-Harvest Economic Loss in India (NABCONS 2022)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8.37% Farm-Gate Tomato Spoilage: High respiration heat at harvest (32°C+) causes rapid decay within 48 hours.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Mandi Distress Selling: Lacking cold storage, smallholders dump produce for ₹2–4/kg to middlemen to avoid total rot.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Distal Cold Storage Failure: Commercial cold chains operate 30–50 km away in district hubs—unreachable for smallholders.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Smallholder Vulnerability: 86.2% of Indian landholdings are small/marginal (&lt;2.0 ha, average 1.08 ha).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SYSTEMIC ANALYSIS</a:t>
            </a:r>
            <a:r>
              <a:rPr b="0">
                <a:solidFill>
                  <a:srgbClr val="9FA0A4"/>
                </a:solidFill>
              </a:rPr>
              <a:t>  |  Why Technology Without Economic Alignment Fails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The Solar Rebound Paradox: Why Free Power Wastes Water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PM-KUSUM deployed 10.9 lakh standalone pumps, but zero marginal operating cost induces the Jevons paradox.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Gupta (2019) Energy Policy 129:598 · Shah et al. (2016) IWMI-Tata SPaRC · impact_model.py §2a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394960" cy="438912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E00"/>
                </a:solidFill>
                <a:latin typeface="Segoe UI"/>
              </a:defRPr>
            </a:pPr>
            <a:r>
              <a:t>THE REBOUND MECHANISM (JEVONS PARADOX)</a:t>
            </a:r>
          </a:p>
          <a:p>
            <a:pPr>
              <a:spcBef>
                <a:spcPts val="400"/>
              </a:spcBef>
              <a:defRPr sz="3600" b="1">
                <a:solidFill>
                  <a:srgbClr val="FFCE00"/>
                </a:solidFill>
                <a:latin typeface="Trebuchet MS"/>
              </a:defRPr>
            </a:pPr>
            <a:r>
              <a:t>+16% to +39%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Measured Increase in Groundwater Extraction Post-Solar Adoption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Zero Marginal Operating Cost: Replacing ₹80/hour diesel pumps with solar removes all financial constraints on pumping time.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Empirical Proof: Econometric field measurement in Rajasthan (Gupta, 2019) confirmed significant extraction expansion.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The Advisory Trap: Telling smallholders to pump less fails because unconsumed solar electricity has ₹0 off-grid cash value.</a:t>
            </a:r>
          </a:p>
          <a:p>
            <a:pPr>
              <a:spcBef>
                <a:spcPts val="8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▪  Systemic Mandate: Water conservation must be coupled with an immediate physical and economic benefit.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94960" cy="438912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029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7CD"/>
                </a:solidFill>
                <a:latin typeface="Segoe UI"/>
              </a:defRPr>
            </a:pPr>
            <a:r>
              <a:t>THE 63% IDLE SOLAR ENERGY REALITY</a:t>
            </a:r>
          </a:p>
          <a:p>
            <a:pPr>
              <a:spcBef>
                <a:spcPts val="400"/>
              </a:spcBef>
              <a:defRPr sz="2800" b="1">
                <a:solidFill>
                  <a:srgbClr val="0087CD"/>
                </a:solidFill>
                <a:latin typeface="Trebuchet MS"/>
              </a:defRPr>
            </a:pPr>
            <a:r>
              <a:t>4,137 kWh / Year Sits Idle</a:t>
            </a:r>
          </a:p>
          <a:p>
            <a:pPr>
              <a:spcBef>
                <a:spcPts val="400"/>
              </a:spcBef>
              <a:defRPr sz="1050">
                <a:solidFill>
                  <a:srgbClr val="9FA0A4"/>
                </a:solidFill>
                <a:latin typeface="Segoe UI"/>
              </a:defRPr>
            </a:pPr>
            <a:r>
              <a:t>A 4.8 kWp pump array generates 6,559 kWh/yr; scheduled drip uses 2,422 kWh (37%). 63% is completely wasted without alternative loads (Shah et al., IWMI).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0" y="3566160"/>
          <a:ext cx="5029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737360"/>
              </a:tblGrid>
              <a:tr h="59436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Player / Tech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Current Model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The Critical Flaw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Solar Cold Rooms (Ecozen)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Dedicated PV + Cold Room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DC0A0A"/>
                          </a:solidFill>
                          <a:latin typeface="Segoe UI"/>
                        </a:defRPr>
                      </a:pPr>
                      <a:r>
                        <a:t>Forces 2nd PV array (₹91k wasted capex)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IoT Advisory Apps (Fasal)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Soil moisture alerts on phone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DC0A0A"/>
                          </a:solidFill>
                          <a:latin typeface="Segoe UI"/>
                        </a:defRPr>
                      </a:pPr>
                      <a:r>
                        <a:t>No actuation; cannot stop over-pumping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GSM Pump Starters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Remote phone motor on/off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DC0A0A"/>
                          </a:solidFill>
                          <a:latin typeface="Segoe UI"/>
                        </a:defRPr>
                      </a:pPr>
                      <a:r>
                        <a:t>Convenience accelerates aquifer depletion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SOLUTION BLUEPRINT</a:t>
            </a:r>
            <a:r>
              <a:rPr b="0">
                <a:solidFill>
                  <a:srgbClr val="9FA0A4"/>
                </a:solidFill>
              </a:rPr>
              <a:t>  |  Direct Mapping to Challenge 01 Expected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AgroStruxure™: Monetizing Water Conservation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A shared-array agri-energy microgrid that enforces a volumetric water entitlement and diverts freed solar power to cooling.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100% of figures verified against impact_model.py and official Challenge 01 rubric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1091672" cy="594360"/>
          </a:xfrm>
          <a:prstGeom prst="roundRect">
            <a:avLst/>
          </a:prstGeom>
          <a:solidFill>
            <a:srgbClr val="024230"/>
          </a:solidFill>
          <a:ln w="1270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FFFFFF"/>
                </a:solidFill>
                <a:latin typeface="Trebuchet MS"/>
              </a:defRPr>
            </a:pPr>
            <a:r>
              <a:t>CORE INNOVATION: Physical time-sharing between PM-KUSUM PV array + Schneider Altivar ATV320 VFD + TeSys D Contactor + 2 MT Pre-Cooler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468880"/>
            <a:ext cx="5422392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78608"/>
            <a:ext cx="50292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3DCD58"/>
                </a:solidFill>
                <a:latin typeface="Segoe UI"/>
              </a:defRPr>
            </a:pPr>
            <a:r>
              <a:t>1. REDUCE ENERGY &amp; WATER INTENSITY</a:t>
            </a:r>
            <a:r>
              <a:rPr b="1">
                <a:solidFill>
                  <a:srgbClr val="FFFFFF"/>
                </a:solidFill>
              </a:rPr>
              <a:t>  (41.2% Water Saved)</a:t>
            </a:r>
          </a:p>
          <a:p>
            <a:pPr>
              <a:spcBef>
                <a:spcPts val="4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Local FAO-56 Penman-Monteith water budgeting with dual-depth capacitive FDR probes. Cuts seasonal irrigation from 850 mm (flood) to 500 mm (pulsed drip), saving 7,000 m³/ha/yr.</a:t>
            </a:r>
          </a:p>
          <a:p>
            <a:pPr>
              <a:spcBef>
                <a:spcPts val="600"/>
              </a:spcBef>
              <a:defRPr sz="950" b="1">
                <a:solidFill>
                  <a:srgbClr val="3DCD58"/>
                </a:solidFill>
                <a:latin typeface="Consolas"/>
              </a:defRPr>
            </a:pPr>
            <a:r>
              <a:t>Key Metric: Pumping Power Freed: 1,696 kWh/ha/yr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468880"/>
            <a:ext cx="5422392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B5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78608"/>
            <a:ext cx="50292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B574FF"/>
                </a:solidFill>
                <a:latin typeface="Segoe UI"/>
              </a:defRPr>
            </a:pPr>
            <a:r>
              <a:t>2. MINIMIZE POST-HARVEST LOSSES</a:t>
            </a:r>
            <a:r>
              <a:rPr b="1">
                <a:solidFill>
                  <a:srgbClr val="FFFFFF"/>
                </a:solidFill>
              </a:rPr>
              <a:t>  (1.31 Tonnes Preserved)</a:t>
            </a:r>
          </a:p>
          <a:p>
            <a:pPr>
              <a:spcBef>
                <a:spcPts val="4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Captures 3,187 kWh/yr (77%) of idle midday solar surplus to drive an on-farm 2 MT PCM pre-cooler at 12°C. Reduces farm-gate tomato spoilage from 8.37% down to 4.00% (NABCONS 2022).</a:t>
            </a:r>
          </a:p>
          <a:p>
            <a:pPr>
              <a:spcBef>
                <a:spcPts val="600"/>
              </a:spcBef>
              <a:defRPr sz="950" b="1">
                <a:solidFill>
                  <a:srgbClr val="B574FF"/>
                </a:solidFill>
                <a:latin typeface="Consolas"/>
              </a:defRPr>
            </a:pPr>
            <a:r>
              <a:t>Key Metric: Preserved Value: +₹15,732/ha/yr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43399"/>
            <a:ext cx="5422392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FFC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453127"/>
            <a:ext cx="50292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CE00"/>
                </a:solidFill>
                <a:latin typeface="Segoe UI"/>
              </a:defRPr>
            </a:pPr>
            <a:r>
              <a:t>3. EMPOWER THE SMALLHOLDER</a:t>
            </a:r>
            <a:r>
              <a:rPr b="1">
                <a:solidFill>
                  <a:srgbClr val="FFFFFF"/>
                </a:solidFill>
              </a:rPr>
              <a:t>  (2.0-Yr Cluster Payback)</a:t>
            </a:r>
          </a:p>
          <a:p>
            <a:pPr>
              <a:spcBef>
                <a:spcPts val="4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Affordable industrial retrofit BOM (₹7,540 at 1,000 units). Delivers spoken vernacular audio advisories in Marathi and Hindi over WhatsApp (Krishi Mitra). 4-farm cluster net gain: ₹25,332/yr.</a:t>
            </a:r>
          </a:p>
          <a:p>
            <a:pPr>
              <a:spcBef>
                <a:spcPts val="600"/>
              </a:spcBef>
              <a:defRPr sz="950" b="1">
                <a:solidFill>
                  <a:srgbClr val="FFCE00"/>
                </a:solidFill>
                <a:latin typeface="Consolas"/>
              </a:defRPr>
            </a:pPr>
            <a:r>
              <a:t>Key Metric: Cluster Capex: ₹50,212 per farm (net)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343399"/>
            <a:ext cx="5422392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008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453127"/>
            <a:ext cx="502920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087CD"/>
                </a:solidFill>
                <a:latin typeface="Segoe UI"/>
              </a:defRPr>
            </a:pPr>
            <a:r>
              <a:t>4. STRENGTHEN CLIMATE RESILIENCE</a:t>
            </a:r>
            <a:r>
              <a:rPr b="1">
                <a:solidFill>
                  <a:srgbClr val="FFFFFF"/>
                </a:solidFill>
              </a:rPr>
              <a:t>  (2.94 t CO₂e Abated)</a:t>
            </a:r>
          </a:p>
          <a:p>
            <a:pPr>
              <a:spcBef>
                <a:spcPts val="4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Locks water extraction to CGWB/Atal Bhujal block budgets; 100% thick-edge execution on ESP32-S3 with 90-day offline flash buffer; prevents dry-run and protects deep Deccan aquifers.</a:t>
            </a:r>
          </a:p>
          <a:p>
            <a:pPr>
              <a:spcBef>
                <a:spcPts val="600"/>
              </a:spcBef>
              <a:defRPr sz="950" b="1">
                <a:solidFill>
                  <a:srgbClr val="0087CD"/>
                </a:solidFill>
                <a:latin typeface="Consolas"/>
              </a:defRPr>
            </a:pPr>
            <a:r>
              <a:t>Key Metric: Displaced Diesel &amp; Spoilage GHG: 2.94 t/ha/yr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OPERATIONAL JOURNEY</a:t>
            </a:r>
            <a:r>
              <a:rPr b="0">
                <a:solidFill>
                  <a:srgbClr val="9FA0A4"/>
                </a:solidFill>
              </a:rPr>
              <a:t>  |  Closed-Loop Diurnal Hydraulics &amp; Fail-Safe Automation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Closed-Loop Precision Hydraulics &amp; Diurnal Journey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A deterministic 24-hour cycle: soft-start drip irrigation, field-capacity cutoff, and zero-flow valve latching.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CiA402 Drive Profile (NVE41308) · FAO-56 Penman-Monteith · FreeRTOS Deterministic 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1091672" cy="10058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069848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FA0A4"/>
                </a:solidFill>
                <a:latin typeface="Segoe UI"/>
              </a:defRPr>
            </a:pPr>
            <a:r>
              <a:t>DIURNAL POWER SCRUBBER (06:00 SUNRISE TO 18:00 SUNSET)</a:t>
            </a:r>
          </a:p>
          <a:p>
            <a:pPr>
              <a:spcBef>
                <a:spcPts val="400"/>
              </a:spcBef>
              <a:defRPr sz="950" b="1">
                <a:solidFill>
                  <a:srgbClr val="3DCD58"/>
                </a:solidFill>
                <a:latin typeface="Consolas"/>
              </a:defRPr>
            </a:pPr>
            <a:r>
              <a:t>[06:00-08:30 Standby PV&lt;200W] ⟶ [08:30-11:30 IRRIGATE: Altivar ATV320 VFD 38-50Hz] ⟶ [11:30: 5s DEAD-BAND DWELL] ⟶ [11:30-15:30 PRE-COOL: 2 MT PCM Cold Room 3.43kW] ⟶ [15:30-18:00 Overnight PCM Hold]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3520440" cy="320040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008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3154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7CD"/>
                </a:solidFill>
                <a:latin typeface="Segoe UI"/>
              </a:defRPr>
            </a:pPr>
            <a:r>
              <a:t>DUAL-DEPTH SENSING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10cm Surface Probe: Tracks evaporation rate and crusting dynamics.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30cm Root-Zone Probe: Monitors active transpiration and root depletion.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Dynamic Thresholds: Field Capacity cutoff at 45%; Permanent Wilting threshold at 18%.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Hydrological Modeling: Inputs dual FDR + solar pyranometer into FAO-56 Penman-Monteith balance.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2926080"/>
            <a:ext cx="3520440" cy="320040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3063240"/>
            <a:ext cx="3154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ANTI-WATER HAMMER SEQUENCE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Step 1: Daily quota reached (3,500 L) or root zone achieves 45% Field Capacity.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Step 2: Gateway commands Altivar VFD to decelerate from 48 Hz to 0 Hz over 8 seconds.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Step 3: Pulse flow meter confirms zero flow (Q = 0 LPM); latching valve closes safely.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Step 4: 5-second dead-band dwell discharges DC bus capacitors before TeSys changeover.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2926080"/>
            <a:ext cx="3520440" cy="320040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FFC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3063240"/>
            <a:ext cx="31546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E00"/>
                </a:solidFill>
                <a:latin typeface="Segoe UI"/>
              </a:defRPr>
            </a:pPr>
            <a:r>
              <a:t>WHATSAPP VOICE ADVISORY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Vernacular Audio Note: Dispatched in Marathi &amp; Hindi via WhatsApp Krishi Mitra.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Actionable Message: 'Ram-bhau, 3,500 L delivered today. Soil moisture is 44%. Solar diverted to 2 MT cold room.'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Zero Hallucination: LLM strictly reads structured JSON data; has zero actuation authority.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Smallholder Simplicity: No complex dashboard; operates like a familiar voice note.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TECHNICAL ARCHITECTURE</a:t>
            </a:r>
            <a:r>
              <a:rPr b="0">
                <a:solidFill>
                  <a:srgbClr val="9FA0A4"/>
                </a:solidFill>
              </a:rPr>
              <a:t>  |  EcoStruxure™ 3-Tier Integration &amp; Upstream DC Changeover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Schneider EcoStruxure™ Architecture &amp; Power Topology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Engineered break-before-make upstream DC changeover with 5-second dead-band eliminates drive stress.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Altivar Solar ATV320 Manual NVE41308 · TeSys D Contactor Interlock Catalog · CiA402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394960" cy="438912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ECOSTRUXURE™ 3-TIER STACK INTEGRATION</a:t>
            </a:r>
          </a:p>
          <a:p>
            <a:pPr>
              <a:spcBef>
                <a:spcPts val="800"/>
              </a:spcBef>
              <a:defRPr sz="1050" b="1">
                <a:solidFill>
                  <a:srgbClr val="B574FF"/>
                </a:solidFill>
                <a:latin typeface="Segoe UI"/>
              </a:defRPr>
            </a:pPr>
            <a:r>
              <a:t>Tier 3: Apps, Analytics &amp; Services (EcoStruxure Cloud)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Agronomic digital twin with Sentinel-2 10m NDVI/NDWI satellite ingestion.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Deterministic Krishi Mitra vernacular copilot (Marathi/Hindi).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PM-KUSUM RMS &amp; Central Aquifer Depletion Monitoring Portal.</a:t>
            </a:r>
          </a:p>
          <a:p>
            <a:pPr>
              <a:spcBef>
                <a:spcPts val="800"/>
              </a:spcBef>
              <a:defRPr sz="1050" b="1">
                <a:solidFill>
                  <a:srgbClr val="3DCD58"/>
                </a:solidFill>
                <a:latin typeface="Segoe UI"/>
              </a:defRPr>
            </a:pPr>
            <a:r>
              <a:t>Tier 2: Edge Control (EcoStruxure Edge Gateway)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ESP32-S3 FreeRTOS gateway running 100% thick-edge control loop.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Modbus RTU Master Engine operating CiA402 profile over isolated RS485.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Deterministic 3-layer entitlement engine &amp; 90-day offline flash FIFO.</a:t>
            </a:r>
          </a:p>
          <a:p>
            <a:pPr>
              <a:spcBef>
                <a:spcPts val="800"/>
              </a:spcBef>
              <a:defRPr sz="1050" b="1">
                <a:solidFill>
                  <a:srgbClr val="0087CD"/>
                </a:solidFill>
                <a:latin typeface="Segoe UI"/>
              </a:defRPr>
            </a:pPr>
            <a:r>
              <a:t>Tier 1: Connected Products &amp; Switchgear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Schneider Altivar Solar ATV320 VFD (MPPT tracking, dry-run protection).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Schneider TeSys D Contactors (2x LC1D09BD, mechanical &amp; electrical interlock).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  • Dual FDR soil probes, pulse flow meter, latching valve, pyranometer.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737360"/>
            <a:ext cx="5394960" cy="438912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E00"/>
                </a:solidFill>
                <a:latin typeface="Segoe UI"/>
              </a:defRPr>
            </a:pPr>
            <a:r>
              <a:t>UPSTREAM DC BUS POWER TOPOLOGY</a:t>
            </a:r>
          </a:p>
          <a:p>
            <a:pPr>
              <a:spcBef>
                <a:spcPts val="600"/>
              </a:spcBef>
              <a:defRPr sz="950" b="1">
                <a:solidFill>
                  <a:srgbClr val="FFFFFF"/>
                </a:solidFill>
                <a:latin typeface="Consolas"/>
              </a:defRPr>
            </a:pPr>
            <a:r>
              <a:t>PV Array (4.8 kWp, 350-600V DC) ⟶ DC SPD ⟶ TeSys D Changeover ⟶</a:t>
            </a:r>
          </a:p>
          <a:p>
            <a:pPr>
              <a:spcBef>
                <a:spcPts val="6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Position 1 (08:30–11:30 AM): Schneider Altivar Solar ATV320 VFD ⟶ 5 HP Submersible Pump.</a:t>
            </a:r>
          </a:p>
          <a:p>
            <a:pPr>
              <a:spcBef>
                <a:spcPts val="6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5-Second Deadband Dwell: Both contactors de-energized; DC bus bleeds below 50V DC.</a:t>
            </a:r>
          </a:p>
          <a:p>
            <a:pPr>
              <a:spcBef>
                <a:spcPts val="6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Position 2 (11:30 AM–15:30 PM): Inverter ⟶ 2 MT Phase Change Material Pre-Cooler (12°C).</a:t>
            </a:r>
          </a:p>
          <a:p>
            <a:pPr>
              <a:spcBef>
                <a:spcPts val="1200"/>
              </a:spcBef>
              <a:defRPr sz="1000" b="1">
                <a:solidFill>
                  <a:srgbClr val="DC0A0A"/>
                </a:solidFill>
                <a:latin typeface="Segoe UI"/>
              </a:defRPr>
            </a:pPr>
            <a:r>
              <a:t>CRITICAL ELECTRICAL SAFETY PROOF:</a:t>
            </a:r>
          </a:p>
          <a:p>
            <a:pPr>
              <a:spcBef>
                <a:spcPts val="3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Switching contactors downstream on a running VFD causes destructive V = L·di/dt inductive voltage spikes and trips drive fault codes. Switching upstream on the DC bus with an engineered 5-second deadband dwell protects both motor windings and inverter electronics.</a:t>
            </a:r>
          </a:p>
          <a:p>
            <a:pPr>
              <a:spcBef>
                <a:spcPts val="1000"/>
              </a:spcBef>
              <a:defRPr sz="850" b="1">
                <a:solidFill>
                  <a:srgbClr val="3DCD58"/>
                </a:solidFill>
                <a:latin typeface="Consolas"/>
              </a:defRPr>
            </a:pPr>
            <a:r>
              <a:t>CiA402 Registers: 8501 (CMD Word) | 8502 (Target Speed) | 3201 (Status ETA) | 3207 (DC Bus V)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COMPETITIVE STRATEGY</a:t>
            </a:r>
            <a:r>
              <a:rPr b="0">
                <a:solidFill>
                  <a:srgbClr val="9FA0A4"/>
                </a:solidFill>
              </a:rPr>
              <a:t>  |  Why AgroStruxure Dominates Legacy and Point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System Innovation &amp; Competitive Defense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A multi-vector moat: time-shared solar PV capex, closed-loop entitlement governance, and thick-edge reliability.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Analysis against Ecozen Solutions Ecotron/Ecofrost · Fasal Cultyvate · IWMI Dhundi SPaRC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07 / 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77724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1554480"/>
                <a:gridCol w="1463040"/>
                <a:gridCol w="1645920"/>
              </a:tblGrid>
              <a:tr h="627017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Feature Dimension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Conventional Solar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Ecozen Solutions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Fasal / IoT Apps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AgroStruxure™ (Ours)</a:t>
                      </a:r>
                    </a:p>
                  </a:txBody>
                  <a:tcPr>
                    <a:solidFill>
                      <a:srgbClr val="024230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Solar Asset Sizing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Pump only (63% wasted)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 Separate PV Arrays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N/A (Grid/Battery IoT)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1 Shared Array (Saves ₹91k)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Water Governance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Unconstrained pumping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Unconstrained pumping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Advisory graphs only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Volumetric Rebound Lock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Automated Actuation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Manual knife switch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Independent inverters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Zero actuation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Automated TeSys DC Changeover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Offline Resilience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Manual DOL start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Cloud dependent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Cloud dependent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100% Local FreeRTOS Loop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Vernacular Advisory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Basic English App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Mobile app notifications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WhatsApp Voice in Marathi/Hindi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Payback Period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5+ Years (Diesel replace)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6-8 Years (High Capex)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Subscription Overhead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2.0 Years (2 Crop Seasons)</a:t>
                      </a:r>
                    </a:p>
                  </a:txBody>
                  <a:tcPr>
                    <a:solidFill>
                      <a:srgbClr val="0F2319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503920" y="1737360"/>
            <a:ext cx="3136392" cy="4389120"/>
          </a:xfrm>
          <a:prstGeom prst="roundRect">
            <a:avLst/>
          </a:prstGeom>
          <a:solidFill>
            <a:srgbClr val="151A1C"/>
          </a:solidFill>
          <a:ln w="1905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1828800"/>
            <a:ext cx="2743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THE SHARED-ARRAY MOAT</a:t>
            </a:r>
          </a:p>
          <a:p>
            <a:pPr>
              <a:spcBef>
                <a:spcPts val="400"/>
              </a:spcBef>
              <a:defRPr sz="3600" b="1">
                <a:solidFill>
                  <a:srgbClr val="3DCD58"/>
                </a:solidFill>
                <a:latin typeface="Trebuchet MS"/>
              </a:defRPr>
            </a:pPr>
            <a:r>
              <a:t>₹91,000</a:t>
            </a:r>
          </a:p>
          <a:p>
            <a:pPr>
              <a:spcBef>
                <a:spcPts val="2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Avoided PV Capex per Pre-Cooler Installation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Eliminating Redundant Solar: Competitors force farmers to buy a dedicated 4 kWp array for cooling. AgroStruxure time-shares the existing pump array.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Zero Land Footprint: Avoids consuming 200 sq.ft of productive farmland for extra solar structures.</a:t>
            </a:r>
          </a:p>
          <a:p>
            <a:pPr>
              <a:spcBef>
                <a:spcPts val="8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▪  Retrofit Architecture: Integrates seamlessly onto existing Shakti, Lubi, or Kirloskar solar pumps.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IMPACT VERIFICATION</a:t>
            </a:r>
            <a:r>
              <a:rPr b="0">
                <a:solidFill>
                  <a:srgbClr val="9FA0A4"/>
                </a:solidFill>
              </a:rPr>
              <a:t>  |  The Single Source of Truth: Mathematical &amp; Physical Derivations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Quantified Impact: The Single Source of Truth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Every figure reproduced directly from impact_model.py with explicit baseline tracking and transparent bounds.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Run python impact_model.py in root directory to reproduce all figures identically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2651760" cy="19202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DCD58"/>
                </a:solidFill>
                <a:latin typeface="Trebuchet MS"/>
              </a:defRPr>
            </a:pPr>
            <a:r>
              <a:t>41.2%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WATER SAVED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7,000 m³ / ha / year</a:t>
            </a:r>
          </a:p>
          <a:p>
            <a:pPr>
              <a:spcBef>
                <a:spcPts val="300"/>
              </a:spcBef>
              <a:defRPr sz="850">
                <a:solidFill>
                  <a:srgbClr val="626469"/>
                </a:solidFill>
                <a:latin typeface="Segoe UI"/>
              </a:defRPr>
            </a:pPr>
            <a:r>
              <a:t>Baseline: 17,000 m³ (flood) ⟶ 10,000 m³ (scheduled drip).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737360"/>
            <a:ext cx="2651760" cy="19202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008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1847088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87CD"/>
                </a:solidFill>
                <a:latin typeface="Trebuchet MS"/>
              </a:defRPr>
            </a:pPr>
            <a:r>
              <a:t>1,696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KWH FREED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3,187 kWh Surplus Captured</a:t>
            </a:r>
          </a:p>
          <a:p>
            <a:pPr>
              <a:spcBef>
                <a:spcPts val="300"/>
              </a:spcBef>
              <a:defRPr sz="850">
                <a:solidFill>
                  <a:srgbClr val="626469"/>
                </a:solidFill>
                <a:latin typeface="Segoe UI"/>
              </a:defRPr>
            </a:pPr>
            <a:r>
              <a:t>Pumping cut from 4,118 to 2,422 kWh/yr; 77% surplus captured.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737360"/>
            <a:ext cx="2651760" cy="19202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B5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847088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B574FF"/>
                </a:solidFill>
                <a:latin typeface="Trebuchet MS"/>
              </a:defRPr>
            </a:pPr>
            <a:r>
              <a:t>1.31 t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PRODUCE SAVED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+₹15,732 Revenue Gain</a:t>
            </a:r>
          </a:p>
          <a:p>
            <a:pPr>
              <a:spcBef>
                <a:spcPts val="300"/>
              </a:spcBef>
              <a:defRPr sz="850">
                <a:solidFill>
                  <a:srgbClr val="626469"/>
                </a:solidFill>
                <a:latin typeface="Segoe UI"/>
              </a:defRPr>
            </a:pPr>
            <a:r>
              <a:t>Farm-gate tomato spoilage cut from 8.37% (NABCONS) to 4.00%.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70264" y="1737360"/>
            <a:ext cx="2651760" cy="19202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FFC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7424" y="1847088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E00"/>
                </a:solidFill>
                <a:latin typeface="Trebuchet MS"/>
              </a:defRPr>
            </a:pPr>
            <a:r>
              <a:t>2.94 t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  <a:latin typeface="Segoe UI"/>
              </a:defRPr>
            </a:pPr>
            <a:r>
              <a:t>CO₂E ABATED</a:t>
            </a:r>
          </a:p>
          <a:p>
            <a:pPr>
              <a:spcBef>
                <a:spcPts val="400"/>
              </a:spcBef>
              <a:defRPr sz="1100" b="1">
                <a:solidFill>
                  <a:srgbClr val="FFFFFF"/>
                </a:solidFill>
                <a:latin typeface="Segoe UI"/>
              </a:defRPr>
            </a:pPr>
            <a:r>
              <a:t>2.55t Diesel + 0.39t Food</a:t>
            </a:r>
          </a:p>
          <a:p>
            <a:pPr>
              <a:spcBef>
                <a:spcPts val="300"/>
              </a:spcBef>
              <a:defRPr sz="850">
                <a:solidFill>
                  <a:srgbClr val="626469"/>
                </a:solidFill>
                <a:latin typeface="Segoe UI"/>
              </a:defRPr>
            </a:pPr>
            <a:r>
              <a:t>Displaces diesel generator cooling emissions + embodied food waste.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840480"/>
            <a:ext cx="5394960" cy="228600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86200"/>
            <a:ext cx="5029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DCD58"/>
                </a:solidFill>
                <a:latin typeface="Segoe UI"/>
              </a:defRPr>
            </a:pPr>
            <a:r>
              <a:t>HONEST WATER ATTRIBUTION BREAKDOWN (PER SEASON)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4206240"/>
          <a:ext cx="5029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554480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Transition Stage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Application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Savings Delivered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Flood Baseline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8,500 m³ / ha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0 m³ (Baseline)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Flood ⟶ Conventional Drip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6,000 m³ / ha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2,500 m³ (29.4% HW saving)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Drip ⟶ AgroStruxure Entitlement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0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5,000 m³ / ha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1,000 m³ (11.8% + locked)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6217920" y="3840480"/>
            <a:ext cx="5394960" cy="228600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86200"/>
            <a:ext cx="5029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B574FF"/>
                </a:solidFill>
                <a:latin typeface="Segoe UI"/>
              </a:defRPr>
            </a:pPr>
            <a:r>
              <a:t>THERMAL SIZING &amp; FEASIBILITY BOUNDS (32°C TO 12°C)</a:t>
            </a:r>
          </a:p>
          <a:p>
            <a:pPr>
              <a:spcBef>
                <a:spcPts val="200"/>
              </a:spcBef>
              <a:defRPr sz="950">
                <a:solidFill>
                  <a:srgbClr val="9FA0A4"/>
                </a:solidFill>
                <a:latin typeface="Segoe UI"/>
              </a:defRPr>
            </a:pPr>
            <a:r>
              <a:t>Produce batch pull-down electrical power requirements (COP = 3.0, Cp = 3.7 kJ/kg·K):</a:t>
            </a:r>
          </a:p>
          <a:p>
            <a:pPr>
              <a:spcBef>
                <a:spcPts val="300"/>
              </a:spcBef>
              <a:defRPr sz="850">
                <a:solidFill>
                  <a:srgbClr val="9FA0A4"/>
                </a:solidFill>
                <a:latin typeface="Segoe UI"/>
              </a:defRPr>
            </a:pPr>
            <a:r>
              <a:t>▪  1.0 MT Batch: 1.71 kW avg over 4 hours (6.8 kWh_el) ⟶ Easily fits single 4.8 kWp pump array.</a:t>
            </a:r>
          </a:p>
          <a:p>
            <a:pPr>
              <a:spcBef>
                <a:spcPts val="300"/>
              </a:spcBef>
              <a:defRPr sz="850">
                <a:solidFill>
                  <a:srgbClr val="9FA0A4"/>
                </a:solidFill>
                <a:latin typeface="Segoe UI"/>
              </a:defRPr>
            </a:pPr>
            <a:r>
              <a:t>▪  2.0 MT Batch: 3.43 kW avg over 4 hours (13.7 kWh_el) ⟶ OPTIMAL FIT (Selected for Tier A 4-Farm Cluster).</a:t>
            </a:r>
          </a:p>
          <a:p>
            <a:pPr>
              <a:spcBef>
                <a:spcPts val="300"/>
              </a:spcBef>
              <a:defRPr sz="850">
                <a:solidFill>
                  <a:srgbClr val="9FA0A4"/>
                </a:solidFill>
                <a:latin typeface="Segoe UI"/>
              </a:defRPr>
            </a:pPr>
            <a:r>
              <a:t>▪  5.0 MT Batch: 8.56 kW avg over 4 hours (34.3 kWh_el) ⟶ Exceeds single array; requires Tier B Hub with 4 kWp dedicated PV.</a:t>
            </a:r>
          </a:p>
          <a:p>
            <a:pPr>
              <a:spcBef>
                <a:spcPts val="300"/>
              </a:spcBef>
              <a:defRPr sz="850">
                <a:solidFill>
                  <a:srgbClr val="9FA0A4"/>
                </a:solidFill>
                <a:latin typeface="Segoe UI"/>
              </a:defRPr>
            </a:pPr>
            <a:r>
              <a:t>▪  Tomato Biology: Storing tomatoes &lt; 10°C causes chilling injury. 12°C target setpoint preserves texture and shelf life.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COMMERCIAL VIABILITY</a:t>
            </a:r>
            <a:r>
              <a:rPr b="0">
                <a:solidFill>
                  <a:srgbClr val="9FA0A4"/>
                </a:solidFill>
              </a:rPr>
              <a:t>  |  Industrial BOM, Cluster Payback &amp; Market Scaling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Industrial BOM, Unit Economics &amp; Scaling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A ₹7,540 edge controller BOM delivers a 2.0-year capital payback for a 4-farm pre-cooler cluster.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Itemized Industrial BOM · MIDH Operational Guidelines · AIF 3% Interest Subvention Scheme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5029200" cy="438912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466344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EDGE CONTROLLER BOM (1,000 UNITS)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148840"/>
          <a:ext cx="4663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005840"/>
              </a:tblGrid>
              <a:tr h="324196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Component Description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50" b="1">
                          <a:solidFill>
                            <a:srgbClr val="9FA0A4"/>
                          </a:solidFill>
                          <a:latin typeface="Segoe UI"/>
                        </a:defRPr>
                      </a:pPr>
                      <a:r>
                        <a:t>Cost (INR)</a:t>
                      </a:r>
                    </a:p>
                  </a:txBody>
                  <a:tcPr>
                    <a:solidFill>
                      <a:srgbClr val="1D2428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ESP32-S3-WROOM-1 (16MB Flash, 8MB PSRAM)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₹420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Isolated MAX485 Transceiver + TVS Diode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₹180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Dual FDR Capacitive Soil Probes (10cm &amp; 30cm)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₹760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Sensirion SHT31-D Temp/RH + Pyranometer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₹600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1-inch Hall-Effect Pulse Flow Meter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₹650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1-inch 12V Bistable Latching Solenoid Valve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₹650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Schneider TeSys D Contactors ×2 (LC1D09BD)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3DCD58"/>
                          </a:solidFill>
                          <a:latin typeface="Segoe UI"/>
                        </a:defRPr>
                      </a:pPr>
                      <a:r>
                        <a:t>₹2,300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24V SMPS + Opto-Isolated Relay Driver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₹380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196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SIM7600 4G LTE Cat-1 Cellular Module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₹620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  <a:tr h="3242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IP67 Enclosure, DIN Rail, DC SPD, Cabling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8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₹980</a:t>
                      </a:r>
                    </a:p>
                  </a:txBody>
                  <a:tcPr>
                    <a:solidFill>
                      <a:srgbClr val="151A1C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852160" y="1737360"/>
            <a:ext cx="5788152" cy="438912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828800"/>
            <a:ext cx="539496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CE00"/>
                </a:solidFill>
                <a:latin typeface="Segoe UI"/>
              </a:defRPr>
            </a:pPr>
            <a:r>
              <a:t>TWO-TIER ASSET OWNERSHIP ECONOMICS</a:t>
            </a:r>
          </a:p>
          <a:p>
            <a:pPr>
              <a:spcBef>
                <a:spcPts val="600"/>
              </a:spcBef>
              <a:defRPr sz="1100" b="1">
                <a:solidFill>
                  <a:srgbClr val="3DCD58"/>
                </a:solidFill>
                <a:latin typeface="Segoe UI"/>
              </a:defRPr>
            </a:pPr>
            <a:r>
              <a:t>Tier A: Farm Pre-Cooler (4-Farm Cluster sharing 2 MT Unit) — 2.0 YR PAYBACK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▪ Gross Capex: ₹4,00,000 | Less Avoided PV: -₹91,000 | Net Capex: ₹3,09,000.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▪ After 35% MIDH/AIF Subsidy: ₹2,00,850 total (₹50,212 per smallholder farm).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▪ Annual Farmer Net Gain: +₹25,332 / farm / year (₹15,732 spoilage saved + ₹12,000 mandi price timing gain - ₹2,400 opex).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▪ Payback Period: Exactly 2.0 Years (2 crop seasons). (Pre-subsidy payback: 3.0 years).</a:t>
            </a:r>
          </a:p>
          <a:p>
            <a:pPr>
              <a:spcBef>
                <a:spcPts val="800"/>
              </a:spcBef>
              <a:defRPr sz="1100" b="1">
                <a:solidFill>
                  <a:srgbClr val="B574FF"/>
                </a:solidFill>
                <a:latin typeface="Segoe UI"/>
              </a:defRPr>
            </a:pPr>
            <a:r>
              <a:t>Tier B: FPO Holding Hub (20-Farm Cooperative Hub, 5 MT Unit) — 4.2 YR PAYBACK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▪ Hub Capex: ₹12,00,000 (owns 4 kWp PV) ⟶ ₹7,80,000 after 35% subsidy.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▪ Net Storage Revenue (@ ₹3.00/kg/stay): ₹1,84,375 / year (Claims zero shared-array saving).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▪ Payback Period: 4.2 Years post-subsidy (6.5 years pre-subsidy).</a:t>
            </a:r>
          </a:p>
          <a:p>
            <a:pPr>
              <a:spcBef>
                <a:spcPts val="8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GO-TO-MARKET CHANNELS &amp; FINANCING: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• 1. PM-KUSUM Retrofit: Distributed through FPOs &amp; PACS under AIF 3% interest subvention.</a:t>
            </a:r>
          </a:p>
          <a:p>
            <a:pPr>
              <a:spcBef>
                <a:spcPts val="200"/>
              </a:spcBef>
              <a:defRPr sz="900">
                <a:solidFill>
                  <a:srgbClr val="9FA0A4"/>
                </a:solidFill>
                <a:latin typeface="Segoe UI"/>
              </a:defRPr>
            </a:pPr>
            <a:r>
              <a:t>• 2. Schneider OEM Skid: Pre-assembled Altivar Solar + TeSys skid bundled for new EPC solar tenders.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YUVA YODHA 2026 · EXECUTION PLAN</a:t>
            </a:r>
            <a:r>
              <a:rPr b="0">
                <a:solidFill>
                  <a:srgbClr val="9FA0A4"/>
                </a:solidFill>
              </a:rPr>
              <a:t>  |  12-Month Deployment Roadmap &amp; Multidisciplinary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875520" y="320040"/>
            <a:ext cx="1737360" cy="384048"/>
          </a:xfrm>
          <a:prstGeom prst="roundRect">
            <a:avLst/>
          </a:prstGeom>
          <a:solidFill>
            <a:srgbClr val="0D8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Trebuchet MS"/>
              </a:defRPr>
            </a:pPr>
            <a:r>
              <a:t>Schneider Electric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1091672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Trebuchet MS"/>
              </a:defRPr>
            </a:pPr>
            <a:r>
              <a:t>Implementation Roadmap &amp; Multidisciplinary Team</a:t>
            </a:r>
          </a:p>
          <a:p>
            <a:pPr>
              <a:spcBef>
                <a:spcPts val="400"/>
              </a:spcBef>
              <a:defRPr sz="1200">
                <a:solidFill>
                  <a:srgbClr val="9FA0A4"/>
                </a:solidFill>
                <a:latin typeface="Segoe UI"/>
              </a:defRPr>
            </a:pPr>
            <a:r>
              <a:t>From software simulation to a 25-farm field pilot in Maharashtra with Schneider Electric India Foundation synergy.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09360"/>
            <a:ext cx="11091672" cy="13716"/>
          </a:xfrm>
          <a:prstGeom prst="rect">
            <a:avLst/>
          </a:prstGeom>
          <a:solidFill>
            <a:srgbClr val="242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26469"/>
                </a:solidFill>
                <a:latin typeface="Segoe UI"/>
              </a:defRPr>
            </a:pPr>
            <a:r>
              <a:t>Sources: Phase 1 Submission · Schneider Electric India &amp; YouNoodle Hackathon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355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626469"/>
                </a:solidFill>
                <a:latin typeface="Consolas"/>
              </a:defRPr>
            </a:pPr>
            <a:r>
              <a:t>SLIDE 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11091672" cy="173736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069848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DCD58"/>
                </a:solidFill>
                <a:latin typeface="Segoe UI"/>
              </a:defRPr>
            </a:pPr>
            <a:r>
              <a:t>12-MONTH EXECUTION ROADMAP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2542032" cy="1188720"/>
          </a:xfrm>
          <a:prstGeom prst="roundRect">
            <a:avLst/>
          </a:prstGeom>
          <a:solidFill>
            <a:srgbClr val="1D2428"/>
          </a:solidFill>
          <a:ln w="1270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21992"/>
            <a:ext cx="235915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DCD58"/>
                </a:solidFill>
                <a:latin typeface="Consolas"/>
              </a:defRPr>
            </a:pPr>
            <a:r>
              <a:t>PHASE 1 (OCT 2026)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Simulation &amp; Truth</a:t>
            </a:r>
          </a:p>
          <a:p>
            <a:pPr>
              <a:spcBef>
                <a:spcPts val="300"/>
              </a:spcBef>
              <a:defRPr sz="800">
                <a:solidFill>
                  <a:srgbClr val="626469"/>
                </a:solidFill>
                <a:latin typeface="Segoe UI"/>
              </a:defRPr>
            </a:pPr>
            <a:r>
              <a:t>AgroSim model validated; CiA402 Modbus mapped; deterministic prompt guards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38144" y="2148840"/>
            <a:ext cx="2542032" cy="1188720"/>
          </a:xfrm>
          <a:prstGeom prst="roundRect">
            <a:avLst/>
          </a:prstGeom>
          <a:solidFill>
            <a:srgbClr val="1D2428"/>
          </a:solidFill>
          <a:ln w="12700">
            <a:solidFill>
              <a:srgbClr val="FFC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9584" y="2221992"/>
            <a:ext cx="235915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E00"/>
                </a:solidFill>
                <a:latin typeface="Consolas"/>
              </a:defRPr>
            </a:pPr>
            <a:r>
              <a:t>PHASE 2 (NOV-DEC 2026)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HIL Test Bench</a:t>
            </a:r>
          </a:p>
          <a:p>
            <a:pPr>
              <a:spcBef>
                <a:spcPts val="300"/>
              </a:spcBef>
              <a:defRPr sz="800">
                <a:solidFill>
                  <a:srgbClr val="626469"/>
                </a:solidFill>
                <a:latin typeface="Segoe UI"/>
              </a:defRPr>
            </a:pPr>
            <a:r>
              <a:t>Hardware bench with Altivar ATV320 VFD, TeSys D contactors, and 5s deadband validation.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2148840"/>
            <a:ext cx="2542032" cy="1188720"/>
          </a:xfrm>
          <a:prstGeom prst="roundRect">
            <a:avLst/>
          </a:prstGeom>
          <a:solidFill>
            <a:srgbClr val="1D2428"/>
          </a:solidFill>
          <a:ln w="12700">
            <a:solidFill>
              <a:srgbClr val="0087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2221992"/>
            <a:ext cx="235915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87CD"/>
                </a:solidFill>
                <a:latin typeface="Consolas"/>
              </a:defRPr>
            </a:pPr>
            <a:r>
              <a:t>PHASE 3 (Q1 2027)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Nashik Field Pilot</a:t>
            </a:r>
          </a:p>
          <a:p>
            <a:pPr>
              <a:spcBef>
                <a:spcPts val="300"/>
              </a:spcBef>
              <a:defRPr sz="800">
                <a:solidFill>
                  <a:srgbClr val="626469"/>
                </a:solidFill>
                <a:latin typeface="Segoe UI"/>
              </a:defRPr>
            </a:pPr>
            <a:r>
              <a:t>25-farm cluster pilot with 2 FPOs in Nashik horticulture belt. Tomato harvesting trials.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51392" y="2148840"/>
            <a:ext cx="2542032" cy="1188720"/>
          </a:xfrm>
          <a:prstGeom prst="roundRect">
            <a:avLst/>
          </a:prstGeom>
          <a:solidFill>
            <a:srgbClr val="1D2428"/>
          </a:solidFill>
          <a:ln w="12700">
            <a:solidFill>
              <a:srgbClr val="B57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42832" y="2221992"/>
            <a:ext cx="2359152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B574FF"/>
                </a:solidFill>
                <a:latin typeface="Consolas"/>
              </a:defRPr>
            </a:pPr>
            <a:r>
              <a:t>PHASE 4 (Q3 2027+)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Commercial Scale</a:t>
            </a:r>
          </a:p>
          <a:p>
            <a:pPr>
              <a:spcBef>
                <a:spcPts val="300"/>
              </a:spcBef>
              <a:defRPr sz="800">
                <a:solidFill>
                  <a:srgbClr val="626469"/>
                </a:solidFill>
                <a:latin typeface="Segoe UI"/>
              </a:defRPr>
            </a:pPr>
            <a:r>
              <a:t>OEM pre-assembled skid for PM-KUSUM tenders; expansion to 250 farms across Maharashtra.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657600"/>
            <a:ext cx="2651760" cy="19202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767328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3DCD58"/>
                </a:solidFill>
                <a:latin typeface="Consolas"/>
              </a:defRPr>
            </a:pPr>
            <a:r>
              <a:t>EMBEDDED SYSTEMS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Firmware Lead</a:t>
            </a:r>
          </a:p>
          <a:p>
            <a:pPr>
              <a:spcBef>
                <a:spcPts val="100"/>
              </a:spcBef>
              <a:defRPr sz="950">
                <a:solidFill>
                  <a:srgbClr val="626469"/>
                </a:solidFill>
                <a:latin typeface="Segoe UI"/>
              </a:defRPr>
            </a:pPr>
            <a:r>
              <a:t>ESP32-S3 &amp; Modbus Engine</a:t>
            </a:r>
          </a:p>
          <a:p>
            <a:pPr>
              <a:spcBef>
                <a:spcPts val="400"/>
              </a:spcBef>
              <a:defRPr sz="850">
                <a:solidFill>
                  <a:srgbClr val="9FA0A4"/>
                </a:solidFill>
                <a:latin typeface="Segoe UI"/>
              </a:defRPr>
            </a:pPr>
            <a:r>
              <a:t>FreeRTOS tasks, CiA402 drive state machine, isolated RS485 communication, circular FIFO flash storage.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5848" y="3657600"/>
            <a:ext cx="2651760" cy="19202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3767328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FCE00"/>
                </a:solidFill>
                <a:latin typeface="Consolas"/>
              </a:defRPr>
            </a:pPr>
            <a:r>
              <a:t>POWER ELECTRONICS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Electrical Architect</a:t>
            </a:r>
          </a:p>
          <a:p>
            <a:pPr>
              <a:spcBef>
                <a:spcPts val="100"/>
              </a:spcBef>
              <a:defRPr sz="950">
                <a:solidFill>
                  <a:srgbClr val="626469"/>
                </a:solidFill>
                <a:latin typeface="Segoe UI"/>
              </a:defRPr>
            </a:pPr>
            <a:r>
              <a:t>Switchgear &amp; Sizing</a:t>
            </a:r>
          </a:p>
          <a:p>
            <a:pPr>
              <a:spcBef>
                <a:spcPts val="400"/>
              </a:spcBef>
              <a:defRPr sz="850">
                <a:solidFill>
                  <a:srgbClr val="9FA0A4"/>
                </a:solidFill>
                <a:latin typeface="Segoe UI"/>
              </a:defRPr>
            </a:pPr>
            <a:r>
              <a:t>Upstream DC changeover design, TeSys D mechanical interlocks, 5s deadband bleed down, and thermal pull-down models.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63056" y="3657600"/>
            <a:ext cx="2651760" cy="19202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767328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087CD"/>
                </a:solidFill>
                <a:latin typeface="Consolas"/>
              </a:defRPr>
            </a:pPr>
            <a:r>
              <a:t>AGRONOMY &amp; SATELLITE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Data Scientist</a:t>
            </a:r>
          </a:p>
          <a:p>
            <a:pPr>
              <a:spcBef>
                <a:spcPts val="100"/>
              </a:spcBef>
              <a:defRPr sz="950">
                <a:solidFill>
                  <a:srgbClr val="626469"/>
                </a:solidFill>
                <a:latin typeface="Segoe UI"/>
              </a:defRPr>
            </a:pPr>
            <a:r>
              <a:t>Hydrology &amp; AI RAG</a:t>
            </a:r>
          </a:p>
          <a:p>
            <a:pPr>
              <a:spcBef>
                <a:spcPts val="400"/>
              </a:spcBef>
              <a:defRPr sz="850">
                <a:solidFill>
                  <a:srgbClr val="9FA0A4"/>
                </a:solidFill>
                <a:latin typeface="Segoe UI"/>
              </a:defRPr>
            </a:pPr>
            <a:r>
              <a:t>FAO-56 Penman-Monteith algorithms, Sentinel-2 NDVI/NDWI satellite validation, and deterministic prompt guards.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70264" y="3657600"/>
            <a:ext cx="2651760" cy="1920240"/>
          </a:xfrm>
          <a:prstGeom prst="roundRect">
            <a:avLst/>
          </a:prstGeom>
          <a:solidFill>
            <a:srgbClr val="151A1C"/>
          </a:solidFill>
          <a:ln w="12700">
            <a:solidFill>
              <a:srgbClr val="242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07424" y="3767328"/>
            <a:ext cx="237744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B574FF"/>
                </a:solidFill>
                <a:latin typeface="Consolas"/>
              </a:defRPr>
            </a:pPr>
            <a:r>
              <a:t>PRODUCT &amp; IMPACT</a:t>
            </a:r>
          </a:p>
          <a:p>
            <a:pPr>
              <a:spcBef>
                <a:spcPts val="200"/>
              </a:spcBef>
              <a:defRPr sz="1200" b="1">
                <a:solidFill>
                  <a:srgbClr val="FFFFFF"/>
                </a:solidFill>
                <a:latin typeface="Segoe UI"/>
              </a:defRPr>
            </a:pPr>
            <a:r>
              <a:t>Product Strategist</a:t>
            </a:r>
          </a:p>
          <a:p>
            <a:pPr>
              <a:spcBef>
                <a:spcPts val="100"/>
              </a:spcBef>
              <a:defRPr sz="950">
                <a:solidFill>
                  <a:srgbClr val="626469"/>
                </a:solidFill>
                <a:latin typeface="Segoe UI"/>
              </a:defRPr>
            </a:pPr>
            <a:r>
              <a:t>Smallholder UX &amp; Policy</a:t>
            </a:r>
          </a:p>
          <a:p>
            <a:pPr>
              <a:spcBef>
                <a:spcPts val="400"/>
              </a:spcBef>
              <a:defRPr sz="850">
                <a:solidFill>
                  <a:srgbClr val="9FA0A4"/>
                </a:solidFill>
                <a:latin typeface="Segoe UI"/>
              </a:defRPr>
            </a:pPr>
            <a:r>
              <a:t>Rural smallholder interfaces, QuartzDS compliance, FPO cluster economic models, and Atal Bhujal policy integration.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15000"/>
            <a:ext cx="11091672" cy="502920"/>
          </a:xfrm>
          <a:prstGeom prst="roundRect">
            <a:avLst/>
          </a:prstGeom>
          <a:solidFill>
            <a:srgbClr val="024230"/>
          </a:solidFill>
          <a:ln w="12700">
            <a:solidFill>
              <a:srgbClr val="3DC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74243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FFFFFF"/>
                </a:solidFill>
                <a:latin typeface="Trebuchet MS"/>
              </a:defRPr>
            </a:pPr>
            <a:r>
              <a:t>SCHNEIDER ECOSYSTEM ALIGNMENT: Pre-Placement Interview (PPI) readiness, SE Ventures incubation fit, and SEIF Climate Smart Village rollout synergy.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